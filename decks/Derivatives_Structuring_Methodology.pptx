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Derivatives Structuring Methodology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5A3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reach for which structure, driven by market data: pullbacks, selling vol, buying vol, uncapped upside, hedging, and the structured-note shelf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September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13684" y="379476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options &amp; structured notes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379476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suitability (see companion deck)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778011" y="379476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Implementation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10728655" cy="0"/>
          </a:xfrm>
          <a:prstGeom prst="line">
            <a:avLst/>
          </a:prstGeom>
          <a:noFill/>
          <a:ln w="15875">
            <a:solidFill>
              <a:srgbClr val="9A7B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764024"/>
            <a:ext cx="10728655" cy="0"/>
          </a:xfrm>
          <a:prstGeom prst="line">
            <a:avLst/>
          </a:prstGeom>
          <a:noFill/>
          <a:ln w="15875">
            <a:solidFill>
              <a:srgbClr val="9A7B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5029200"/>
            <a:ext cx="10728655" cy="868680"/>
          </a:xfrm>
          <a:prstGeom prst="rect">
            <a:avLst/>
          </a:prstGeom>
          <a:solidFill>
            <a:srgbClr val="EDF2ED"/>
          </a:solidFill>
          <a:ln w="9525">
            <a:solidFill>
              <a:srgbClr val="C9D8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5175504"/>
            <a:ext cx="1545336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5175504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TRUTH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5120640"/>
            <a:ext cx="8716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structure is a position in volatility and a choice between participation and income.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Read the market data first, decide whether to buy or sell optionality, then pick the payoff. The product name comes last.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steps from market data to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441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assumes the client question is already answered. It covers only the market side: given the tape, </a:t>
            </a:r>
            <a:pPr indent="0" marL="0">
              <a:buNone/>
            </a:pPr>
            <a:r>
              <a:rPr lang="en-US" sz="13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structure is the best value for the view?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63570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2212848"/>
            <a:ext cx="13796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651760"/>
            <a:ext cx="13796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tape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3383280"/>
            <a:ext cx="13796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level &amp; percentile, IV vs realised, skew, term structure, drawdown, trend, RSI, rates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66061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440381" y="2103120"/>
            <a:ext cx="1635709" cy="246888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8397" y="2212848"/>
            <a:ext cx="13796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568397" y="2651760"/>
            <a:ext cx="13796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 stance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68397" y="3383280"/>
            <a:ext cx="13796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</a:t>
            </a:r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 optionality, from the scoring rules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057802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332122" y="2103120"/>
            <a:ext cx="163570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0138" y="2212848"/>
            <a:ext cx="13796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460138" y="2651760"/>
            <a:ext cx="13796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Payoff objective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60138" y="3383280"/>
            <a:ext cx="13796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(from the move), </a:t>
            </a:r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(from time), or </a:t>
            </a:r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49544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23864" y="2103120"/>
            <a:ext cx="1635709" cy="246888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1880" y="2212848"/>
            <a:ext cx="13796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351880" y="2651760"/>
            <a:ext cx="13796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51880" y="3383280"/>
            <a:ext cx="13796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Skew, term structure, correlation, rates, dividends, issuer spread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841285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115605" y="2103120"/>
            <a:ext cx="1635709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3621" y="2212848"/>
            <a:ext cx="13796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243621" y="2651760"/>
            <a:ext cx="13796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Wrapper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43621" y="3383280"/>
            <a:ext cx="13796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OTC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(short tenor, bespoke, liquid) or </a:t>
            </a:r>
            <a:pPr indent="0" marL="0"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(12m+, packaged, coupon)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733026" y="30632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10007346" y="2103120"/>
            <a:ext cx="1635709" cy="246888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35362" y="2212848"/>
            <a:ext cx="13796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10135362" y="2651760"/>
            <a:ext cx="13796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135362" y="3383280"/>
            <a:ext cx="137967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Strikes from levels, tenor from catalyst, barrier below where you'd own it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846320"/>
            <a:ext cx="11094415" cy="1097280"/>
          </a:xfrm>
          <a:prstGeom prst="rect">
            <a:avLst/>
          </a:prstGeom>
          <a:solidFill>
            <a:srgbClr val="EDF2ED"/>
          </a:solidFill>
          <a:ln w="9525">
            <a:solidFill>
              <a:srgbClr val="C9D8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992624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" y="4992624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ZERO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696212" y="4937760"/>
            <a:ext cx="9782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view does not depend on volatility, don't pay for volatility you don't need; if the market is overpaying for insurance, be the seller.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Every rule in this deck is a more precise version of that sentence.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tape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A3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inputs, how to measure them, and the starting thresholds that turn them into a stance.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TAPE · INPUTS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market-data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706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measure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decides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vol level &amp; percentile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30-day ATM IV; its percentile in the trailing 1-year range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vs sell optionality: the price of insurance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vs realised (VRP)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IV30 ÷ RV30 (or IV30 − RV20 in vol points)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Whether insurance is over- or under-priced </a:t>
                      </a:r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vs what the stock actually does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Earnings implied move ratio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Straddle-implied move ÷ average absolute move over the last 4 (and 8) prints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or sell the </a:t>
                      </a:r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event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Skew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25Δ put IV − 25Δ call IV (or 90%–110% IV); its 1-year percentile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puts / barriers when steep; buy puts outright when flat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Term structure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1m ÷ IV 3m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Which </a:t>
                      </a:r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tenor</a:t>
                      </a:r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to buy or sell; event premium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Drawdown &amp; trend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off 52-week high · price vs 50/200-day MA · RSI(14)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view shape</a:t>
                      </a:r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 pullback, extended, range, trend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Realised range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3-month (high − low) ÷ midpoint; RV percentile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 vs trending (income vs participation)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Correlation (baskets)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or 6m realised pairwise correlation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Whether a worst-of coupon is value or a trap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&amp; rate vol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2y/5y yield vs 10-year history · swaption vol / MOVE percentile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Protection-note budget; range-accrual coupons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Dividends &amp; issuer spread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12m dividend yield · issuer 5y CDS / funding spread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Forward price (calls cheaper, puts dearer) · note terms vs credit risk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TAPE · THRESHOLDS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thresholds: cheap, fair, rich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1463040"/>
                <a:gridCol w="3596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→ buy vol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 → sell vol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percentile (1y)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25th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25th–75th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75th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IV30 ÷ RV30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0.9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0.9–1.2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1.2 (or IV − RV &gt; +4 vol pts)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Earnings implied ÷ avg realised (4 prints)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0.8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0.8–1.2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1.2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Skew percentile (25Δ put − call)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25th: flat → buy puts outright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25th–75th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75th: steep → sell puts, barriers, risk reversals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Term structure (IV1m ÷ IV3m)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0.9: steep contango → front is cheap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0.9–1.05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1.05: inverted → front carries event/stress premium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 vol percentile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25th: floors/caps cheap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25th–75th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75th: range accruals &amp; callables pay more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signal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0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Drawdown from 52w high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10%: near highs ·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15–35%: dislocation</a:t>
                      </a:r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· &gt; 40%: distressed, recheck fundamentals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RSI(14)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&lt; 30 oversold (sell puts below) · &gt; 70 overbought (sell upside, don't buy calls outright)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Trend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Above rising 50/200-day: participation · below 200-day: defined risk or income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Realised range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3m range &lt; ~12% of price and RV in bottom third: </a:t>
                      </a:r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</a:t>
                      </a:r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→ income structures</a:t>
                      </a:r>
                      <a:endParaRPr lang="en-US" sz="12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TAPE · VOL STANCE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signals into a stance: buy, sell or neutral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15258" cy="3840480"/>
          </a:xfrm>
          <a:prstGeom prst="rect">
            <a:avLst/>
          </a:prstGeom>
          <a:solidFill>
            <a:srgbClr val="ECEFF2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2763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57400"/>
            <a:ext cx="311292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percentile &lt; 25th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IV30 ÷ RV30 &lt; 0.9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ratio &lt; 0.8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Dated catalyst inside the tenor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 flat (protection cheap)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114800"/>
            <a:ext cx="3112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 signals → buy optionality.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Long options, spreads, straddles, protection notes.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8218" y="1463040"/>
            <a:ext cx="351525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1098" y="162763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6E5A47"/>
          </a:solidFill>
          <a:ln w="12700">
            <a:solidFill>
              <a:srgbClr val="6E5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1098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39386" y="2057400"/>
            <a:ext cx="311292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mixed or all fair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catalyst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 near its median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39386" y="4114800"/>
            <a:ext cx="3112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spreads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(buy one, sell one) so vega roughly nets out, or use </a:t>
            </a:r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Let the view, not vol, drive.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7797" y="1463040"/>
            <a:ext cx="3515258" cy="384048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0677" y="162763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10677" y="1627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328965" y="2057400"/>
            <a:ext cx="311292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percentile &gt; 75th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IV30 ÷ RV30 &gt; 1.2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ratio &gt; 1.2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Post-event IV still elevated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 steep (puts rich)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8965" y="4114800"/>
            <a:ext cx="3112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 signals → sell optionality.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Overwrites, put sales, income notes, collars.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rgbClr val="ECEFF2"/>
          </a:solidFill>
          <a:ln w="9525">
            <a:solidFill>
              <a:srgbClr val="CBD2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632704"/>
            <a:ext cx="1156716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632704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RULE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007108" y="5577840"/>
            <a:ext cx="94713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vol level and VRP disagree (e.g. IV high in percentile but below realised),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IV vs realised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it measures price against what the asset is actually doing now.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TAPE · VIEW SHAPE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action tells you participation vs income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743200"/>
                <a:gridCol w="2194560"/>
                <a:gridCol w="25904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pattern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suggests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Payoff objective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family</a:t>
                      </a:r>
                      <a:endParaRPr lang="en-US" sz="11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Quality name 15–35% off high, fundamentals intact, RSI &lt; 40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Recovery likely, timing unknown; happy to own lower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Income, paid to enter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 sale · RevCon · FCN · Buy-the-Dip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Near highs, RSI &gt; 70, rising trend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Extended; don't chase delta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Participation, but enter lower or capped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 spread · Buy-the-Dip · overwrite if held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Strong trend above rising 50/200-day, catalyst ahead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Momentum with a reason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Participation, uncapped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calls · risk reversal · protection note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Range-bound: tight 3m range, low RV, no catalyst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Nothing happens; get paid for time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Overwrite · strangle/condor · Phoenix · FCN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Dated binary event, direction unclear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Big move, either way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 (both sides)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Straddle/strangle if cheap; sell it if rich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 VIX, crowded calendar, weak breadth underneath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Complacency; tail under-priced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Protection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Index put spreads · collars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boxed in a band; front end anchored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 rates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Callable range accrual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high, market pricing cuts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Lock or floor today's rates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 / protection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Capped floored floater · protection note</a:t>
                      </a:r>
                      <a:endParaRPr lang="en-US" sz="13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TAPE · REFINERS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signals that change the construction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72539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 for the construction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Skew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the put wing: put sales, RevCons, barrier notes, risk reversals, put-spread (not outright put) hedges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Flat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puts outright; collars less efficient; call wings relatively dear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Term structure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Inverted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the front (overwrite through the event), buy longer tenors; hedges are cheaper further out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Steep contango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short-dated optionality for near events; sell longer-dated premium (notes)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 (&gt; 0.6)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Worst-of coupons are lower but honest; basket behaves like one name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 (&lt; 0.4)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Worst-of coupon looks rich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because the risk is high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; prefer single-name or equal-weight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level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 vs history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Zero-coupon bond cheap → protection notes get better participation; RevCon coupons higher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Dividend yield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Forward lower → calls cheaper, puts dearer; notes (you forgo dividends) pay better coupons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Issuer spread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Wide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note terms, but you are paid for issuer risk; cap issuer concentration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playbooks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A3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Pullback · sell vol · buy vol · bullish with uncapped upside · hedging · rates. Each has a trigger, if/then rules, and kill conditions.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PLAYBOOK · PULLBACK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Pullback: a quality name has sold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/ ENTRY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690372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536192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40764" y="1481328"/>
            <a:ext cx="99376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15–35% off the 52-week high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fundamentals / estimates intact · RSI(14) &lt; 40 · often IV percentile &gt; 60 and skew steep after the fall.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tape also shows…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structure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note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skew steep, you'd own it here or lower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Cash-secured put, 1–3m, 15–25Δ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Reverse convertible or FCN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Strike ~85–95% (at support); coupon scales with IV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fair/low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expect more chop before recovery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Laddered put sales across strikes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Buy-the-Dip note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Lookback entry over first 1–3m; participation from the low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high conviction on the rebound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 spread 3–6m, or long call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BREN (levered to a cap)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~ATM, short at prior high / target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Several quality names down together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Basket put sale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Worst-of FCN / Phoenix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only if corr &gt; 0.6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Only names you'd own each of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Index pullback 5–10%, VIX spike, term inverted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index put spreads, front month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Phoenix on the index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Barrier below prior cycle low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F5E9E7"/>
          </a:solidFill>
          <a:ln w="9525">
            <a:solidFill>
              <a:srgbClr val="E3C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586984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KILL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929384" y="5532120"/>
            <a:ext cx="9549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cuts or downgrades · credit spread on the name widening · below a falling 200-day with RV accelerating · earnings inside a RevCon tenor unless deliberately harvested →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sell puts into a falling knife; use call spreads (defined risk) instead.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PLAYBOOK · SELL VOL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vol: insurance is overpriced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VEGA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690372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536192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40764" y="1481328"/>
            <a:ext cx="99376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 of: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IV percentile &gt; 75th · IV30 ÷ RV30 &gt; 1.2 · earnings ratio &gt; 1.2 · IV still elevated after the event · steep skew.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tape also shows…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structure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note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Range-bound, tight realised range, no event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 strangle / iron condor 1–2m, 15–20Δ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Phoenix (memory) or FCN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Barriers outside the 3m realised range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Mildly bullish, stock already held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Covered call 1–3m, 5–10% OTM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ACM+ / Digital Review Note (new money)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Strike at resistance / prior high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Would own it lower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Cash-secured put 15–25Δ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Reverse convertible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Strike where you'd genuinely buy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Inverted term structure after an event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front month, buy 3m (calendar)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Same strike; roll the short leg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 vol rich, rates boxed in a band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swaption strangle (specialist)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Callable range accrual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Band around the realised range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F5E9E7"/>
          </a:solidFill>
          <a:ln w="9525">
            <a:solidFill>
              <a:srgbClr val="E3C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586984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KILL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929384" y="5532120"/>
            <a:ext cx="9549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 rich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reason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(binary: trial, deal, ruling inside the tenor) · vol-of-vol high · price breaking out of its range · short-vol positions without a defined max loss sized for a gap.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PLAYBOOK · BUY VOL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vol: optionality is on sale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VEGA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690372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536192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40764" y="1481328"/>
            <a:ext cx="99376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 of: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IV percentile &lt; 25th · IV30 ÷ RV30 &lt; 0.9 · earnings ratio &lt; 0.8 · a dated catalyst inside the tenor · flat skew.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tape also shows…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structure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note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Directional view + catalyst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call / put, or 1x1 spread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Expiry 1–2 weeks after the catalyst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Big move expected, direction unclear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Straddle / strangle through the event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Exit the day after; don't hold for decay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Steep contango, event 1–2m out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front-month options (cheapest per day)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Expiry just after the event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 vol + rates high + want equity with a floor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call + T-bills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 Note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90–100% protection; participation is best when IV is low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 vol + bullish but want a better entry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Staggered call purchases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Buy-the-Dip note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Lookback is cheapest when vol is low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F5E9E7"/>
          </a:solidFill>
          <a:ln w="9525">
            <a:solidFill>
              <a:srgbClr val="E3C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586984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KILL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929384" y="5532120"/>
            <a:ext cx="9549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 cheap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nothing is happening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no catalyst inside the tenor means theta bleed · holding long options past the event · buying the same option that realised vol has already outrun.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PLAYBOOK · BULLISH, UNCAPPED UPSIDE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Bullish with uncapped upside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690372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536192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40764" y="1481328"/>
            <a:ext cx="99376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conviction,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target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price above rising 50/200-day, catalyst ahead, RSI 50–70 (not yet extended). Any cap defeats the view.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tape also shows…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structure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note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cheap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(percentile &lt; 30)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calls 3–12m, ATM to 5% OTM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 Note (uncapped)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Longer tenor if rates are high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skew steep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 reversal: sell 90% put, buy 110% call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Zero cost; you accept owning lower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Want leverage and can accept a cap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 spread (capped: flag it)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BREN (capped: flag it)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Only if the cap sits above the target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RSI &gt; 70, extended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Wait, or sell puts to enter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Buy-the-Dip (uncapped variant)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Enter from the dip, keep the upside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Conviction on a basket / sector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ETF calls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 note on the index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Index vol &lt; single-name vol: cheaper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F5E9E7"/>
          </a:solidFill>
          <a:ln w="9525">
            <a:solidFill>
              <a:srgbClr val="E3C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586984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KILL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929384" y="5532120"/>
            <a:ext cx="9549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caps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call spreads, 1x2 ratios, overwrites, autocalls and BRENs all sell the upside this view needs. Use them only if a target exists.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PLAYBOOK · HEDGING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Hedging: protect what you own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690372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536192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40764" y="1481328"/>
            <a:ext cx="99376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hedge first: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name vs index · event vs tail vs drawdown · how much fall to cover · for how long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Then read vol, skew and term structure.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tape also shows…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structure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note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cheap, skew flat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puts, 90–95%, 3–6m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 Note (re-risk with floor)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protection outright; it's on sale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or skew steep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 spread (95/80) or put-spread collar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BREN (buffer covers first 10–20%)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the rich lower wing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Concentrated, low-basis winner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Zero-cost collar 6–12m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 ~90%, call set for zero cost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Event hedge (earnings, election)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 / put spread expiring after the event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If term inverted, go one month longer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Portfolio tail (low VIX, crowded calendar)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Index put spreads, 5–10% OTM, 3–6m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Budget premium as % of book p.a.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F5E9E7"/>
          </a:solidFill>
          <a:ln w="9525">
            <a:solidFill>
              <a:srgbClr val="E3C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586984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KILL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929384" y="5532120"/>
            <a:ext cx="9549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ATM puts outright in rich vol · hedging index beta with single-name puts · rolling puts continuously without a budget · a collar on a name you're strongly bullish 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PLAYBOOK · RATES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views on the note shelf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389888"/>
            <a:ext cx="11094415" cy="713232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690372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1536192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540764" y="1481328"/>
            <a:ext cx="99376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vs history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curve vs your view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vol percentile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the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realised range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reference rate.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24028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tape also shows…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structure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note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range-bound, rate vol elevated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swaption strangle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Callable range accrual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Band ≈ realised range; coupon rises with rate vol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high; cuts priced, you fear deeper cuts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a floor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Capped floored floater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Floor near/below forwards; cap well above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high, equity vol low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T-bills + calls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 Note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 rates fund better participation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falling, want a fixed coupon locked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Receiver swaption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Non-callable fixed-coupon bond / note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Avoid callables: called when you need them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rising / sticky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Payer swaption (hedge)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Floater (cap far above spot)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Avoid long fixed duration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F5E9E7"/>
          </a:solidFill>
          <a:ln w="9525">
            <a:solidFill>
              <a:srgbClr val="E3C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5586984"/>
            <a:ext cx="1078992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3232" y="558698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/ KILL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929384" y="5532120"/>
            <a:ext cx="9549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accruals when a breakout is plausible (fiscal shock, policy surprise) · callables when big cuts are expected · floaters whose cap sits inside the plausible rate path.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structured-note shelf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A3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note terms, which note fits which tape, and a card for each: RevCon, FCN, Phoenix, BREN, ACM+, Digital Review, Buy-the-Dip, Callable Range Accrual, Capped Floored Floater, Market Protection.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ANATOMY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note is a bond plus options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023360" cy="420624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63624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563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BUILT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084832" y="1508760"/>
            <a:ext cx="23225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investor buys a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bond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(the issuer's funding) plus an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package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notes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(RevCon, FCN, Phoenix, Digital Review, range accrual): the investor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options, and the premium plus the bond yield becomes the coupon.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 notes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(Market Protection, Buy-the-Dip): the investor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options with the bond's discount.
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Hybrids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(BREN, ACM+, capped floored floater): buy some optionality, sell other optionality to fund it.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67967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3161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this rises…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Short-vol income notes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Long-vol protection notes</a:t>
                      </a:r>
                      <a:endParaRPr lang="en-US" sz="11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Implied volatility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</a:t>
                      </a:r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 higher coupons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Worse</a:t>
                      </a:r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 lower participation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Interest rates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Better: bond yields more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</a:t>
                      </a:r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 cheaper zero bond, more option budget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Issuer credit spread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terms, more credit risk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terms, more credit risk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Dividend yield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coupons (you forgo dividends)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Worse (calls cheaper, but you forgo dividends)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Skew (put richness)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Better: sold put worth more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Neutral to slightly worse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Correlation (worst-of)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Lower corr = higher coupon </a:t>
                      </a:r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and</a:t>
                      </a:r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risk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n/a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Tenor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More coupon, more path risk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participation, longer lock-up</a:t>
                      </a:r>
                      <a:endParaRPr lang="en-US" sz="127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846320" y="521208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</a:t>
            </a:r>
            <a:pPr indent="0" marL="0">
              <a:buNone/>
            </a:pPr>
            <a:r>
              <a:rPr lang="en-US" sz="12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Sell-vol notes when IV is rich; buy-vol notes when IV is cheap and rates are high.</a:t>
            </a:r>
            <a:pPr indent="0" marL="0">
              <a:buNone/>
            </a:pPr>
            <a:r>
              <a:rPr lang="en-US" sz="12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note that looks generous is usually generous because one of these drivers is stretched, so name which one.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SELECTION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note? Start from the tape and the 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44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view, not equity?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444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444752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Range-bound → </a:t>
            </a:r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Callable Range Accrual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high rates, fear deep cuts → </a:t>
            </a:r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Capped Floored Floater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4663440" cy="45720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965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the principal back, IV low, rates high?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965960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Protection Note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4871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Bullish, but extended; expect a dip first?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487168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Buy-the-Dip note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008376"/>
            <a:ext cx="4663440" cy="45720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0083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Moderately bullish to a target; skew steep?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0083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008376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BREN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levered upside to a cap, buffered downside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529584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5295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Flat-to-up but want upside kept at maturity?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529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529584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ACM+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call premium, or max(digital, upside) at maturity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050792"/>
            <a:ext cx="4663440" cy="45720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0507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Flat-to-up; want a fixed lump sum, not coupons?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40507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4050792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Review Note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view; want coupon resilience through dips?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4572000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Phoenix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(memory coupon)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093208"/>
            <a:ext cx="4663440" cy="45720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0932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Sideways-to-up; want guaranteed monthly coupons?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5093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5093208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FCN</a:t>
            </a:r>
            <a:pPr indent="0" marL="0">
              <a:buNone/>
            </a:pPr>
            <a:r>
              <a:rPr lang="en-US" sz="12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fixed coupons, knock-out, strike delivery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5614416"/>
            <a:ext cx="4663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56144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own it lower; short horizon; IV rich?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257800" y="56144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5614416"/>
            <a:ext cx="597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convertible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top to bottom: the first question answered "yes" picks the note. Order runs from most protective to most income-seeking.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CARDS 1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Convertible and Fixed Coupon Note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Convertible (RevCon)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568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50492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50492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coupon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At maturity: above the strike (or never below the knock-in barrier) → par back; otherwise delivered shares or cash equivalent. Economically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 + sold put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percentile &gt; 60 · after a 15–35% pullback · strike at support / where you'd own it · steep skew · no binary event inside the tenor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Falling knife (estimate cuts, credit widening) · you would not want the shares · IV cheap (poor coupon)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3–12m · strike 85–100% (European) or 100% strike with 60–80% knock-in · coupon scales with IV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Coupon Note (FCN)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97600" y="1956816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9568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VOL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334860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34860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periodic (often monthly) coupons.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Knocks out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early if the underlying(s) are at/above the KO level on an observation date. At maturity, below the knock-in → shares delivered at the strike. Often worst-of.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elevated, especially front-end · sideways-to-up view · for worst-of: implied correlation &gt; 0.6 and you'd own every name · want steady monthly cash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Low-correlation baskets (a juicy coupon priced for a real risk) · strong downtrend · names with earnings clustering early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3–12m · monthly coupons · KO 100–105%, monthly after 1–3m non-call · strike 75–95% · knock-in 60–75%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CARDS 2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Autocall and Digital Review Note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Autocall (memory)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568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50492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50492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coupon each period the underlying is above the coupon barrier; missed coupons are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remembered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paid later. Autocalls at/above the initial level. Capital at risk below the maturity barrier.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elevated and above realised · range-bound tape (tight 3m range) · coupon barrier below historical max drawdowns over similar windows · want coupon resilience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Strong downtrend (coupons stop, capital at risk) · strong uptrend (called early, reinvestment risk) · gap-risk names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 · quarterly · coupon barrier 60–80% · autocall 100% (may step down) · capital barrier 50–70% at maturity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Review Note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97600" y="1956816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9568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VOL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334860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34860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 on set dates: at/above the call level →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called with a fixed premium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(grows each review). If never called: above the barrier at maturity → par + fixed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return; below → loss 1:1 (or after a buffer).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elevated · flat-to-mildly-up view to the first review · prefer a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lump-sum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return to periodic coupons · dividends high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Big-rally view (you only earn the premium) · gap-risk names · IV cheap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 · annual or quarterly reviews · call level 100% · barrier 60–80% · premium set by IV and rates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CARDS 3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 and ACM+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6E5A47"/>
          </a:solidFill>
          <a:ln w="12700">
            <a:solidFill>
              <a:srgbClr val="6E5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44752" y="1956816"/>
            <a:ext cx="1156716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4752" y="1956816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Buffered Return Enhanced Note.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Levered upside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(e.g. 1.5–3×) up to a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return cap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a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absorbs the first 10–20% of losses, then loss 1:1 beyond it. Bought calls funded by selling the cap and the put below the buffer.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Moderately bullish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with a target below the cap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· steep skew (the sold put funds more leverage) · IV moderate-to-high · want partial downside cushion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Breakout / uncapped view (the cap binds) · tail risk beyond the buffer · target above the cap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12–24m · 1.5–3× upside · cap 15–30% · buffer 10–20%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ACM+ (Autocallable Market Plus)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97600" y="1956816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9568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VOL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334860" y="1956816"/>
            <a:ext cx="1156716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34860" y="1956816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Called early with a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premium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if at/above the initial level on a review date. If not called: at maturity above the barrier → par + the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of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contingent digital return and the underlying's return (upside kept); below → loss 1:1.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Flat-to-up with upside optionality at maturity · IV elevated · steep skew · dividends high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Gap-risk names · strong downtrend · IV cheap (premium thin)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 · annual/quarterly reviews · barrier 60–80% · confirm naming and mechanics on the issuer's term sheet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CARDS 4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Buy-the-Dip Note and Market Protection Note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Buy-the-Dip Note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768096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5681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72768" y="1956816"/>
            <a:ext cx="1156716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72768" y="1956816"/>
            <a:ext cx="1156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level is set at the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close during an initial lookback window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(or reset lower if the underlying falls a set %). Participation runs from that lower entry, so a dip after trade date improves the entry.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 12m+ but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extended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(near highs, RSI &gt; 65) and expecting near-term chop · IV low-to-moderate (the lookback is cheapest when vol is low)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high (lookback expensive, participation poor) · you expect a straight-line rally (entry never improves)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 · lookback 1–3 (up to 6) months · participation ~100%, sometimes capped · designs vary: confirm the term sheet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Protection Note (MPN)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97600" y="1956816"/>
            <a:ext cx="768096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95681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VOL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257136" y="1956816"/>
            <a:ext cx="923544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57136" y="195681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90–100% of principal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back at maturity (issuer credit aside) plus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the underlying's rise, capped or uncapped. A zero-coupon bond plus a bought call.</a:t>
            </a:r>
            <a:endParaRPr lang="en-US" sz="13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high vs history (cheap zero bond) · IV percentile &lt; 35 (cheap calls) · low dividend yield · long tenor available · re-risking after a hedge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low (little option budget) · IV rich (poor participation) · money needed before maturity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1–5y · 90–100% protection · participation 50–120%, capped or uncapped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CARDS 5 OF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Callable Range Accrual Note and Capped Floored Floater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Callable Range Accrual Note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845820" cy="256032"/>
          </a:xfrm>
          <a:prstGeom prst="roundRect">
            <a:avLst>
              <a:gd name="adj" fmla="val 17857"/>
            </a:avLst>
          </a:prstGeom>
          <a:solidFill>
            <a:srgbClr val="9A7B4F"/>
          </a:solidFill>
          <a:ln w="12700">
            <a:solidFill>
              <a:srgbClr val="9A7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5681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50492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50492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Coupon = fixed rate × (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the reference rate fixes inside the band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days in period). The issuer may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note on set dates. The investor is short rate vol twice: the range and the call.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 vol percentile &gt; 60 (pays more) · forwards sit inside the band · narrow realised range · central bank anchored · comfortable being called in the good scenario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Breakout risk (fiscal shock, policy surprise) · extension risk: in bad scenarios it isn't called and pays little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3–10y · non-call 6–12m, then quarterly/annual · reference SOFR / CMS10 / CMS spread · band set around the realised range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233008" y="1389888"/>
            <a:ext cx="5410048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7600" y="1499616"/>
            <a:ext cx="508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Capped Floored Floater (CFF)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397600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6E5A47"/>
          </a:solidFill>
          <a:ln w="12700">
            <a:solidFill>
              <a:srgbClr val="6E5A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129120" y="195681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29120" y="1956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397600" y="2322576"/>
            <a:ext cx="508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Coupon = reference rate + spread,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floored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 a minimum and </a:t>
            </a:r>
            <a:pPr indent="0" marL="0">
              <a:buNone/>
            </a:pPr>
            <a:r>
              <a:rPr lang="en-US" sz="13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capped</a:t>
            </a:r>
            <a:pPr indent="0" marL="0">
              <a:buNone/>
            </a:pPr>
            <a:r>
              <a:rPr lang="en-US" sz="1300" dirty="0">
                <a:solidFill>
                  <a:srgbClr val="5A3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 a maximum. The investor is long a floor (protection if rates fall) and short a cap (gives up very high rates).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3602736"/>
          <a:ext cx="50808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8464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3F6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high, market pricing cuts, and you fear </a:t>
                      </a:r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deeper</a:t>
                      </a:r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cuts than forwards imply · cap strike well above the plausible rate path · rate vol low (floor cheap)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8C3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 inside the plausible path (rates stay high) · expecting cuts shallower than priced (floor overpaid)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9A7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TERMS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2–7y · floor near or below forwards (e.g. 3%) · cap well above spot (e.g. 6–7%)</a:t>
                      </a:r>
                      <a:endParaRPr lang="en-US" sz="128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82296" marB="82296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MATRIX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notes: vol position × payoff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3794760" cy="221742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PARTICIPATION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3794760" cy="2217420"/>
          </a:xfrm>
          <a:prstGeom prst="rect">
            <a:avLst/>
          </a:prstGeom>
          <a:solidFill>
            <a:srgbClr val="ECEFF2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PARTICIPATION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05840" y="3771900"/>
            <a:ext cx="3794760" cy="2217420"/>
          </a:xfrm>
          <a:prstGeom prst="rect">
            <a:avLst/>
          </a:prstGeom>
          <a:solidFill>
            <a:srgbClr val="EDF2ED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INCOME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3771900"/>
            <a:ext cx="3794760" cy="22174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032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INCOME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0" cy="4526280"/>
          </a:xfrm>
          <a:prstGeom prst="line">
            <a:avLst/>
          </a:prstGeom>
          <a:noFill/>
          <a:ln w="19050">
            <a:solidFill>
              <a:srgbClr val="2921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771900"/>
            <a:ext cx="7680960" cy="0"/>
          </a:xfrm>
          <a:prstGeom prst="line">
            <a:avLst/>
          </a:prstGeom>
          <a:noFill/>
          <a:ln w="19050">
            <a:solidFill>
              <a:srgbClr val="2921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SHORT VEGA: you sell optionality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VEGA: you buy optionality  ▶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" y="155448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 ▲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377190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3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INCOME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2422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77286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levered to a cap; sells buffer 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76833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1697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ACM+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premium; upside kept at maturity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1287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6151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Protection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bond + bought 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71593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6457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Buy-the-Dip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lookback entry (bought)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2422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77286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premium; sold digital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76833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31697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Phoenix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coupon; sold barrier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22422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77286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Callable Range Accrual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rate vol ×2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76833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1697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coupons; sold strike put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76833" y="5445023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31697" y="5463311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Convertible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 + sold put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5698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C3F3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50562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Capped Floored Floater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floor / short cap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155448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1874520"/>
            <a:ext cx="26362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from the vol stance.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IV rich → left; IV cheap → right.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from the view shape.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Trend/breakout → top; range/sideways → bottom.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notes cluster bottom-left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the coupon *is* sold optionality.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vol · income is nearly empty.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 can't be paid a coupon for owning options; only floors live there.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notes (range accrual, CFF) follow </a:t>
            </a:r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vol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equity vol.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06840" y="489204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1832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participation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06840" y="5202936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18320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/ range income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06840" y="55138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C3F3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1832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protection (floor)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· COMPARISON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note shelf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463040"/>
                <a:gridCol w="1828800"/>
                <a:gridCol w="1463040"/>
                <a:gridCol w="1828800"/>
                <a:gridCol w="853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Payoff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IV regime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view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Reverse Convertible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 (&gt; 60th pct)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Higher helps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Would own lower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3–12m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Rich, front-end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Higher helps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Sideways-to-up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3–12m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Phoenix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Rich, IV &gt; RV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Higher helps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Digital Review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Higher helps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Flat to mildly up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ACM+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Rich, steep skew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Higher helps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Flat-to-up, keep upside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Mixed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Moderate, steep skew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Neutral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Up to a target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12–24m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Buy-the-Dip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Participation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 to moderate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Higher helps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Bullish, extended now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12–36m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Protection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 (&lt; 35th pct)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 needed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Upside with a floor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1–5y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Callable Range Accrual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 (rates)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 vol rich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Range-bound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boxed in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3–10y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Capped Floored Floater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Mixed (rates)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Income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 vol low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High, cuts priced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Deeper cuts than priced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2–7y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9A7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OTC structures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A3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 options: bespoke strikes and tenors, shorter horizons, no issuer wrapper. Which structure to consider, what the tape needs to show, and when to stay away.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· PARTICIPATION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Directional and event structures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3566160"/>
                <a:gridCol w="2377440"/>
                <a:gridCol w="2179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 the tape shows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call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pctl &lt; 25 · IV/RV &lt; 0.9 · catalyst inside tenor · rising trend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· no catalyst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3–12m, ATM to 5% OTM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 spread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(small)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target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exists · dated event · IV rich (short leg sells the rich wing)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Breakout / uncapped view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1–6m; long ~ATM, short at target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 reversal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Sells skew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Bullish, would own lower ·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skew pctl &gt; 75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funds more upside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Falling-knife signals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3–6m; sell 90% put, buy 110% call, ~zero cost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1x2 call ratio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· specific target · rally beyond upper strike unlikely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Momentum / squeeze risk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 1 ATM, sell 2 at ~+10%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 seagull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Bullish, want zero cost · steep skew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Gap-down risk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 spread + sold OTM put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Accumulator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elevated (bigger discount) · range-to-up · building a position over time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Downtrend · high vol-of-vol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6–12m; strike 85–92%, KO 103–106%, 2× gearing below strike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Straddle / strangle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Earnings ratio &lt; 0.8 · binary catalyst · IV pctl low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· no event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Expiry just after the event; exit next day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· INCOME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time and optionality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A3E2B"/>
          </a:solidFill>
          <a:ln w="12700">
            <a:solidFill>
              <a:srgbClr val="5A3E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3566160"/>
                <a:gridCol w="2377440"/>
                <a:gridCol w="2179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 the tape shows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Covered call / overwrite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Stock held · IV pctl &gt; 60 · IV/RV &gt; 1.1 · RSI &gt; 65 into resistance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Breakout or catalyst ahead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1–3m, 5–10% OTM (~20–30Δ), rolled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Cash-secured put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Would own lower · after a pullback · IV rich · steep skew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Falling knife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1–3m, 15–25Δ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 strangle / iron condor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pctl &gt; 75 · IV/RV &gt; 1.25 · narrow realised range ·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event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Event inside tenor · trending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1–2m, 15–20Δ each side; buy 5–10Δ wings for the condor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Calendar spread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vega, +theta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Front month rich vs back (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inverted term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 around an event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Steep contango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Sell 1m, buy 3m, same strike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Decumulator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Exiting a holding at a premium · IV elevated · range-to-down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Strong uptrend (geared selling)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Strike 105–110%, KO below spot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· HEDGING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4484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Protection structures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80015" y="74980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6E7E8C"/>
          </a:solidFill>
          <a:ln w="12700">
            <a:solidFill>
              <a:srgbClr val="6E7E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015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3566160"/>
                <a:gridCol w="2377440"/>
                <a:gridCol w="2179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 when the tape shows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 when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Indicative construction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put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pctl &lt; 30 · flat skew · event risk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3–6m, 90–95%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 spread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(small)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or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steep skew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: sell the rich lower wing · cushion a 10–20% fall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Crash / tail cover needed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3–6m, 95/80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Zero-cost collar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Neutral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Concentrated, low-basis holding · rich call vol · want zero cost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Strong upside conviction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6–12m; put ~90%, call set for zero cost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Put-spread collar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Steep skew · zero cost · protect a moderate fall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Crash scenario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95 put, short 80 put, short ~110 call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Index put spread (tail)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VIX pctl &lt; 25 · crowded event calendar · weak breadth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After the spike: too late, too dear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3–6m, 95/85 or 90/75; premium budget % p.a.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· MATRIX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OTC structures: vol position × payoff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1554480"/>
            <a:ext cx="3794760" cy="2217420"/>
          </a:xfrm>
          <a:prstGeom prst="rect">
            <a:avLst/>
          </a:prstGeom>
          <a:solidFill>
            <a:srgbClr val="F4ECE0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PARTICIPATION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3794760" cy="2217420"/>
          </a:xfrm>
          <a:prstGeom prst="rect">
            <a:avLst/>
          </a:prstGeom>
          <a:solidFill>
            <a:srgbClr val="ECEFF2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61848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PARTICIPATION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05840" y="3771900"/>
            <a:ext cx="3794760" cy="2217420"/>
          </a:xfrm>
          <a:prstGeom prst="rect">
            <a:avLst/>
          </a:prstGeom>
          <a:solidFill>
            <a:srgbClr val="EDF2ED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VOL · INCOME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3771900"/>
            <a:ext cx="3794760" cy="22174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0328" y="3835908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VOL · INCOME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0" cy="4526280"/>
          </a:xfrm>
          <a:prstGeom prst="line">
            <a:avLst/>
          </a:prstGeom>
          <a:noFill/>
          <a:ln w="19050">
            <a:solidFill>
              <a:srgbClr val="2921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771900"/>
            <a:ext cx="7680960" cy="0"/>
          </a:xfrm>
          <a:prstGeom prst="line">
            <a:avLst/>
          </a:prstGeom>
          <a:noFill/>
          <a:ln w="19050">
            <a:solidFill>
              <a:srgbClr val="2921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 SHORT VEGA: you sell optionality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6062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VEGA: you buy optionality  ▶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" y="155448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 ▲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" y="3771900"/>
            <a:ext cx="27432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3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INCOME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2422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77286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reversal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sells put skew for calls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76833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1697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1x2 call ratio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upside to a level, short wing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76833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31697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buys at discount; geared puts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2422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7286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Bullish seagull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spread funded by 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41287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6151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call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uncapped, leveraged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5698" y="196367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50562" y="198196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target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41287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96151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Straddle / strangle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direction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5698" y="2761945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C3F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50562" y="2780233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/ put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downside participation (hedge)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76833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31697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call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 stock, capped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2422" y="4114571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77286" y="4132859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Cash-secured put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to buy lower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76833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231697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Strangle / condor (sold)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income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2422" y="4779797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77286" y="4798085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Decumulator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at a premium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09060" y="5445023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8C3F3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63924" y="5463311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funded by call (hedge)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85916" y="444718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40780" y="4465472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E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vega, earns front decay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155448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006840" y="1874520"/>
            <a:ext cx="26362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logic as the note matrix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column from vol stance, row from view shape.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 sit near the axis.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They buy one option and sell another, so vega partly nets.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Hedges straddle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payoffs: a put is downside participation; a collar trades upside for protection.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vol · income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holds only the calendar: long back-month vega while collecting front-month decay.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06840" y="4892040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F6B4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1832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participation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06840" y="5202936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9211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418320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/ range / vol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06840" y="55138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C3F3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418320" y="5468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92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→ first structure to consider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2926080"/>
                <a:gridCol w="27733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Tape</a:t>
                      </a:r>
                      <a:endParaRPr lang="en-US" sz="12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12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first choice</a:t>
                      </a:r>
                      <a:endParaRPr lang="en-US" sz="12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0" b="1" dirty="0">
                          <a:solidFill>
                            <a:srgbClr val="FBF8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 first choice</a:t>
                      </a:r>
                      <a:endParaRPr lang="en-US" sz="127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921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1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cheap + catalyst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call / call spread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 (if rates high)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cheap + event, direction unclear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Big move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Straddle / strangle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cheap + flat skew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Protect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 put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Market Protection (re-risk)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+ tight range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Sideways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Covered call · sold strangle/condor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Phoenix · FCN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+ pullback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Would own lower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Cash-secured put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Reverse convertible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+ steep skew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Mildly bullish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 reversal · seagull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ACM+ · Digital Review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rich + steep skew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Protect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Put spread · collar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BREN (buffer)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 moderate + target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Up to a level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 spread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BREN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Near highs, RSI &gt; 70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Bullish, better entry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Laddered put sales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Buy-the-Dip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boxed, rate vol rich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range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Sold swaption strangle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Callable Range Accrual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b="1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Rates high, cuts priced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Fear deeper cuts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Bought floor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2921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Capped Floored Floater</a:t>
                      </a:r>
                      <a:endParaRPr lang="en-US" sz="142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t">
                    <a:lnL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A7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 and caveats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9050">
            <a:solidFill>
              <a:srgbClr val="9A7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 · METHODOLOGY REFERENCE — DERIVATIVES STRUCTURING METHODOLOGY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10048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4533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15453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874520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276856"/>
            <a:ext cx="51174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 stance first, product last.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Every structure is long or short optionality.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IV to realised, not just to history.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Price against what the asset is doing now.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vol only with a defined worst case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you'd accept, sized for a gap.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vol only with a catalyst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inside the tenor, or the decay wins.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caps upside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wrong for an uncapped view.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note is issuer credit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illiquid until maturity; spread issuers.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33008" y="1417320"/>
            <a:ext cx="5410048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C9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9312" y="154533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8C3F3F"/>
          </a:solidFill>
          <a:ln w="12700">
            <a:solidFill>
              <a:srgbClr val="8C3F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9312" y="15453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379312" y="1874520"/>
            <a:ext cx="511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92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276856"/>
            <a:ext cx="51174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 are starting points.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Calibrate per asset: a biotech's "rich" is a utility's "crisis".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vol is sometimes rich for a reason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a binary event, a deal, a ruling. Check the calendar.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Worst-of coupons price correlation risk.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higher coupon means more risk, not a better deal.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naming varies by issuer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(ACM+, Buy-the-Dip, Digital Review): confirm mechanics on the term sheet.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ignores suitability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2921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by design; the companion deck covers who can hold what.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Derivatives Structuring Methodology</dc:title>
  <dc:subject>PptxGenJS Presentation</dc:subject>
  <dc:creator>Open Book desk</dc:creator>
  <cp:lastModifiedBy>Open Book desk</cp:lastModifiedBy>
  <cp:revision>1</cp:revision>
  <dcterms:created xsi:type="dcterms:W3CDTF">2026-09-25T06:04:14Z</dcterms:created>
  <dcterms:modified xsi:type="dcterms:W3CDTF">2026-09-25T06:04:14Z</dcterms:modified>
</cp:coreProperties>
</file>