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 to Implementation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market view becomes the right trade for a specific client, for single-name equities and bonds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idea is a statement about the market. An implementation is a statement about the client.</a:t>
            </a:r>
            <a:pPr indent="0" marL="0">
              <a:buNone/>
            </a:pPr>
            <a:r>
              <a:rPr lang="en-US" sz="1300" dirty="0">
                <a:solidFill>
                  <a:srgbClr val="949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idea can correctly become five different trades for five different clients. This deck explains how the desk reasons its way to the right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257800"/>
            <a:ext cx="10728655" cy="0"/>
          </a:xfrm>
          <a:prstGeom prst="line">
            <a:avLst/>
          </a:prstGeom>
          <a:noFill/>
          <a:ln w="9525">
            <a:solidFill>
              <a:srgbClr val="3B43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September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413684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Single-name equities · Bonds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Anyone new to the desk's process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778011" y="53949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Derivatives Structuring Methodology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0592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845613" y="452628"/>
            <a:ext cx="879744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idea, different right answers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214884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609344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60934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95681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95728"/>
            <a:ext cx="50657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"Micron is too cheap after a 25% fall."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 regardless of who you are talking to. It is a claim about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direction, size, timing.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333695" cy="214884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609344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160934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1956816"/>
            <a:ext cx="5004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implementation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395728"/>
            <a:ext cx="500451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"Sell Client A a 12-month autocall on Micron. Client B should trim the Micron they own and buy a buffered note with the proceeds."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makes sense once you know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client is and what they own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699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GOES WRONG IF YOU SKIP THE CLIENT STEP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add risk the client already has too much of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Recommending more of a stock that is already 24% of the book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propose a product the client cannot hold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OTC collar for a client who can only hold packaged products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propose a product that does not fit the goal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single-stock earnings bet for a capital-preservation client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propose an overlay on something they do not own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covered call for a client with no shares to write against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METHOD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176272" y="452628"/>
            <a:ext cx="946678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always in this order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narrows the options for the next. Jumping straight to a favourite product ("let's do an autocall") is the most common way to get it wrong.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014057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2768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6974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view?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3429000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Direction, size of move, timing, path, conviction. Sets the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shape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44409" y="30403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818729" y="2148840"/>
            <a:ext cx="2014057" cy="233172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65033" y="22768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65033" y="26974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the client?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65033" y="3429000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Suitability, objective, horizon, tax, currency. Sets what is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and appropriate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14499" y="30403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88819" y="2148840"/>
            <a:ext cx="2014057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35123" y="22768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35123" y="26974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they own?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5123" y="3429000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money or overlay?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Concentration, big gains and losses change everything.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4588" y="30403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58908" y="2148840"/>
            <a:ext cx="2014057" cy="233172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05212" y="22768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05212" y="26974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market charging?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05212" y="3429000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prices (volatility), yields, curve, spreads.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or sell optionality?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54678" y="30403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628998" y="2148840"/>
            <a:ext cx="2014057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75302" y="22768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75302" y="26974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product?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75302" y="3429000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that delivers the payoff most cheaply, plus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and size</a:t>
            </a:r>
            <a:pPr indent="0" marL="0"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11094415" cy="100584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800600"/>
            <a:ext cx="36576" cy="1005840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91032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OUTPUT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51663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primary trade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product, underlying, strikes or barrier, tenor, size. 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fallback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what to do if the client can't or won't do the primary. 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not the obvious alternative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one sentence on why you didn't just buy the stock or bond. If you can't write it, the simple trade is probably right.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1: What exactly is the view?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like the stock" is not precise enough to implement. Break the view into parts, because each part corresponds to a feature of a product.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1 · THE 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parts of an equity view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5516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OF THE VIEW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QUESTION TO ASK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 IT MATTERS FOR THE IMPLEMENTATION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Up, down, or sideways?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Up/down →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products. Sideways →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products that are paid for nothing happening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far? Is there a target?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a target you can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the upside beyond it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to cheapen the trade (a spread). Open-ended upside should not be capped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when? Is there a dated catalyst (earnings, launch, ruling)?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date sets the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tenor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of an option. No date → no reason to rent exposure; own it outright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 grind, or violent and two-sided on the way?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violent path makes options expensive and barrier products risky. A calm path suits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selling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options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conviction, or "probably, but I could be wrong"?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conviction can justify open-ended exposure (stock). Lower conviction →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risk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know the maximum loss in advance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1 · THE 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view shapes, eight product families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  <a:gridCol w="2651760"/>
                <a:gridCol w="24990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 SHAPE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PLAIN WORDS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PAYOFF YOU WANT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 FAMILIES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/ strong up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 lot higher, I don't know where it stops"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Uncapped upside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· long call · participation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a level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"It goes to ~$250, then I'm not sure"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 to the target only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· capped participation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to modestly up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"Won't fall much, won't rip either"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for time passing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· autocall · Phoenix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"I'd own it lower"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"Good company, I want a better entry"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to wait; bought at a discount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 · reverse convertible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 what I have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 own a lot, I've made money, I'm nervous"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floor under a position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Protective put · collar · trim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Fade / overdone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"The move was too big, it gives some back"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from a modest pullback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a call spread · overwrite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Re-enter after a loss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 still believe, but can't take another 30%"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 with a cushion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Buffered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Can't lose capital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"Equity upside, but no loss of principal"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floor at 100%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Capital-protected note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286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1 · WORKED EXAMPLE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72738" y="452628"/>
            <a:ext cx="757031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Taking a view apart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"Nvidia reports in five weeks. The business is fine, but the market has punished two clean beats this month. I think it rises, maybe 10–15%, but the reaction could be ugly."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072579" cy="11430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50592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17982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04099" y="2331720"/>
            <a:ext cx="2072579" cy="11430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2450592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941259" y="2743200"/>
            <a:ext cx="17982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level (~15%)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59558" y="2331720"/>
            <a:ext cx="2072579" cy="11430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6718" y="2450592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196718" y="2743200"/>
            <a:ext cx="17982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Dated: 5 weeks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017" y="2331720"/>
            <a:ext cx="2072579" cy="114300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177" y="2450592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52177" y="2743200"/>
            <a:ext cx="17982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Violent: earnings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70476" y="2331720"/>
            <a:ext cx="2072579" cy="11430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07636" y="2450592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07636" y="2743200"/>
            <a:ext cx="17982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821528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11094415" cy="9601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23360"/>
            <a:ext cx="36576" cy="960120"/>
          </a:xfrm>
          <a:prstGeom prst="rect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13308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389120"/>
            <a:ext cx="107286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 spread expiring 1–2 weeks after the results.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Defined cost, upside to the target, tenor set by the event. You get there by reasoning, not by picking a product first.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65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 OF THE CALL SPREAD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WHICH PART OF THE VIEW IT ANSWERS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 near the money · short call at ~+15%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pay only for the move you expect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 after the print · max loss = premium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survive a bad reaction without a gap loss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2: Who is the client?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Suitability is one bucket with several parts. Together they answer: what is this client allowed to hold, and what is actually appropriate for them?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9516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2 · SUITABILITY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738067" y="452628"/>
            <a:ext cx="790498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parts of suitability, and how each changes the trade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5333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TO FIND OUT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 IT CHANGES THE IMPLEMENTATION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 &amp; experience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or professional? Documented derivatives experience?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generally can't trade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derivatives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(collars, bespoke options) but can hold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packaged products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(notes, funds). If the ideal trade isn't allowed, find the nearest allowed equivalent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Growth, income, or preservation?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Income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(notes, covered calls, bonds). Preservation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protective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(capital protection, buffers, collars, quality bonds)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tolerance &amp; loss capacity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can they lose without it changing their life?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capacity rules out barrier products that can deliver a large loss, and leverage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 &amp; liquidity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might they need the money? Known liabilities?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 lock money up 1–3 years. A need inside that window vetoes them. Match known outflows with bills/bonds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position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cost basis? Losses to harvest? Tax-exempt preference?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embedded gain → structures that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trigger a sale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Embedded loss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harvest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before re-entering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currency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currency do they measure wealth in?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USD note for a EUR client adds a currency bet. Prefer base-currency or hedged versions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23560"/>
            <a:ext cx="11094415" cy="566928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623560"/>
            <a:ext cx="36576" cy="566928"/>
          </a:xfrm>
          <a:prstGeom prst="rect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573328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989320"/>
            <a:ext cx="107286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Suitability shapes the implementation. It doesn't kill the idea.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whether a form of the view fits the client, and drop it only when none does. Never downgrade silently.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3: What does the client already own?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changes the answer more often than any other question, and it is the one most often forgotten.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3 · HOLDINGS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money or overlay? The first fork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bullish view means completely different things depending on whether the client owns none of the stock, a normal amount, or far too much.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394960" cy="20116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249424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4942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596896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money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035808"/>
            <a:ext cx="5065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doesn't own the stock. You choose how to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exposure: stock, call spread, note, put sale. Full freedom; choose on view, suitability and pricing.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333695" cy="20116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2249424"/>
            <a:ext cx="758952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224942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596896"/>
            <a:ext cx="5004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035808"/>
            <a:ext cx="500451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already owns it. You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exposure they have: add protection, generate income, reduce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4415" cy="11430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389120"/>
            <a:ext cx="36576" cy="1143000"/>
          </a:xfrm>
          <a:prstGeom prst="rect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49884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E89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ERROR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754880"/>
            <a:ext cx="1072865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products only exist as overlays.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covered call sells a call against shares you own. A collar protects shares you own. Recommending either to someone who doesn't hold the stock is a category error. For a non-holder, "income on this name" means a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sale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convertible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covered call.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3 · HOLDINGS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Holding situations and what each implies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9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THEY HOLD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 TO THINK ABOUT IT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IMPLEMENTATION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freedom: choose on view, suitability, pricing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 on the menu that fits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position, modest P&amp;L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Adding is fine if the view is strong; otherwise overlay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via stock or a note · overwrite if sideways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 (&gt;~15% of book; &gt;20–25% is serious)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add more of the same risk, however much you like the stock.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note on the same stock is more risk, not diversification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 · protective put · prepaid variable forward · staged trim · exchange into a basket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winner (+50%), not concentrated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you buy it today at this price? If not with new money, monetise it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· staged trim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winner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concentrated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classic private-wealth problem: selling triggers tax, holding keeps the risk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Zero-cost collar · PVF · borrow against it · trim across tax years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Loser (down 10–20%+)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two decisions: (1) take the tax loss; (2) do you still want the exposure?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Harvest, then re-enter via peer, ETF, or buffered note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loser, emotionally attached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 to break even isn't a strategy. Is this the best use of capital today?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 loser, framed as "repair"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3 · HOLDINGS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Book-level situations that create trades on their own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implementations come from the portfolio, not from a market view. Fix these before adding views.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072579" cy="356616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 cash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46120"/>
            <a:ext cx="1798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~8–10%+ of the book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1480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343400"/>
            <a:ext cx="17982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ladder · short bonds · put sales on names they'd own lower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04099" y="2148840"/>
            <a:ext cx="2072579" cy="356616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1259" y="228600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mismatch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941259" y="301752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941259" y="3246120"/>
            <a:ext cx="1798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share outside base currency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41259" y="411480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941259" y="4343400"/>
            <a:ext cx="17982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it: forwards/collars, or currency-hedged share classes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59558" y="2148840"/>
            <a:ext cx="2072579" cy="356616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96718" y="228600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liabilities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196718" y="301752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196718" y="3246120"/>
            <a:ext cx="1798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bills, property, mortgage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96718" y="411480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196718" y="4343400"/>
            <a:ext cx="17982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matched ladder first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017" y="2148840"/>
            <a:ext cx="2072579" cy="356616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177" y="228600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concentration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452177" y="301752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452177" y="3246120"/>
            <a:ext cx="1798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in one sector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177" y="411480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452177" y="4343400"/>
            <a:ext cx="17982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Diversify; don't add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70476" y="2148840"/>
            <a:ext cx="2072579" cy="356616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07636" y="228600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vs objectives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707636" y="301752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707636" y="3246120"/>
            <a:ext cx="17982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client with little income; preservation client with little protection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707636" y="4114800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FC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707636" y="4343400"/>
            <a:ext cx="17982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gap before expressing views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4: What is the market charging?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view and same client can still produce different trades depending on price. For equities the price is option volatility. For bonds it is the curve and spreads.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4 · PRICING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Volatility: the price of insurance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4937760" cy="219456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36576" cy="2194560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527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PARAGRAPH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783080"/>
            <a:ext cx="4572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 is insurance.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volatility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its price: the move the market expects.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options are expensive to buy and pay well to sell.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the opposite.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structured note is built from options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volatility also sets note terms: higher coupons on income notes (the investor sells insurance), worse participation on protected notes (the note buys it).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17320"/>
          <a:ext cx="58823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048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COMPARE IMPLIED VOL TO…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TELLS YOU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Realised volatility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imply ±4%/day, stock moves ±2% → insurance is overpriced: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own 1-year history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of range → sellers have the edge. Bottom → buyers do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Earnings: implied move vs last 4 reactions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well below history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optionality. Well above →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(put vs call vol)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 skew → selling puts &amp; barrier notes attractive; buying protection dearer. Collars work better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3886200"/>
            <a:ext cx="4937760" cy="18288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886200"/>
            <a:ext cx="36576" cy="1828800"/>
          </a:xfrm>
          <a:prstGeom prst="rect">
            <a:avLst/>
          </a:prstGeom>
          <a:solidFill>
            <a:srgbClr val="82B4DE"/>
          </a:solidFill>
          <a:ln w="12700">
            <a:solidFill>
              <a:srgbClr val="82B4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9959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 MATTER TOO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4251960"/>
            <a:ext cx="4572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capital-protected note is a zero-coupon bond plus an option.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rates → cheaper bond → more budget for upside.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Protected notes are more attractive when rates are high than near zero.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760720" y="3886200"/>
            <a:ext cx="5882335" cy="182880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886200"/>
            <a:ext cx="36576" cy="1828800"/>
          </a:xfrm>
          <a:prstGeom prst="rect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61888" y="3995928"/>
            <a:ext cx="5516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RULE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961888" y="4251960"/>
            <a:ext cx="5516575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view doesn't depend on volatility, don't pay for volatility you don't need. If the market is overpaying for insurance, be the one selling it.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4 · PRICING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2628"/>
            <a:ext cx="835121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volatility regime does to each view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047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SITUATION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TO DO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strong directional view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options / call spreads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 is cheap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directional view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(sell the expensive upper strike), or own the stock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overpay for a call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neutral-to-positive view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it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covered calls, put sales, reverse convertibles, autocalls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are paid well for a risk you are comfortable with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want protection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puts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outright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is on sale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want protection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sell the expensive upside to pay for the downside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rich call funds the put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029200"/>
            <a:ext cx="36576" cy="822960"/>
          </a:xfrm>
          <a:prstGeom prst="rect">
            <a:avLst/>
          </a:prstGeom>
          <a:solidFill>
            <a:srgbClr val="82B4DE"/>
          </a:solidFill>
          <a:ln w="12700">
            <a:solidFill>
              <a:srgbClr val="82B4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513892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39496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companion deck,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Derivatives Structuring Methodology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turns this into explicit market-data rules: thresholds for IV percentile, IV vs realised, earnings implied/realised, skew and term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5: Which product? The single-name menu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simplest product, the stock itself, and only move away when you can name the specific improvement a more complex product adds.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MENU · DIRECT &amp; DIRECTIONAL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5192" y="452628"/>
            <a:ext cx="4940503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Owning the exposure, or buying optionality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06240"/>
                <a:gridCol w="3017520"/>
                <a:gridCol w="19504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IT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THINK TWICE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TERMS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equity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thesis,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event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 window · vol fairly priced · thin options market · client values liquidity, dividends, tax lots · ticket too small for a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already concentrated · binary event days away · stock has already run hard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2–5% per name; trim above ~8%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/ index ETF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Thesis is really about the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high dispersion inside the sector · client already concentrated in one name there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edge is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idiosyncratic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to one company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an overwrite when sector vol is elevated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Strong,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open-ended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view · vol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catalyst inside tenor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rich · move may come after expiry · you have a target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1–6m, ATM to slightly OTM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have a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dated event, want known max loss · stock near highs · vol rich (short leg recovers cost)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 genuinely open-ended · client already owns a lot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Earnings: 4–6w, expiry ≥1–2w after print; long ~ATM, short ~+10–15%; ~2–3% cost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reversal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Strongly bullish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happy to own lower · steep put skew funds more upside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can't or won't be assigned stock in a sell-off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zero cost; 3–6m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Participation / booster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 leveraged-but-capped upside in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packaged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form · horizon ≥12m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is short-dated · can't take issuer credit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e.g. 150% participation to a cap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Leveraged certificate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Short-term, strong, actively monitored view; aggressive client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 buy-and-hold; income or preservation clients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Knock-out level; monitor daily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MENU · INCOME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650229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optionality: paid to accept a risk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834640"/>
                <a:gridCol w="2377440"/>
                <a:gridCol w="16760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PAYOFF IN PLAIN WORDS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IT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THINK TWICE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TERMS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(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overlay only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 premium; give up upside above the strike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stock they wouldn't buy more of here · sideways view · vol elevated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 a big rally · low-basis stock where call-away triggers tax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1–3m, ~5% OTM, rolled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 premium; buy at strike if it falls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"I'd buy this lower" · just sold off, vol elevated · idle cash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wouldn't be happy owning at the strike · vol cheap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~3m, 15–25 delta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fixed coupon; may repay in shares. Bond + sold put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as a put sale, in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form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would hate ending up with the stock · already a large position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3–12m; strike at a level they'd own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coupon while above barrier; early redemption if at/above start; capital at risk below barrier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to modestly up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vol rich · stock already sold off so barrier is well below defended level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 a big rally · already concentrated · gap risk (fraud, trial, regulation)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12–24m, 70–80% barrier, quarterly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 (memory)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autocall; missed coupons paid later if it recovers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view; client values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 resilience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through dips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autocall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 barrier ≈ capital barrier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Worst-of basket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Payoff follows the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name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would happily own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name · wants a higher coupon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name the client wouldn't want delivered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include names you'd own alone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40672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MENU · PROTECTION &amp; REPAIR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853635" y="452628"/>
            <a:ext cx="505206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200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80015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Protecting winners, repairing losers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2926080"/>
                <a:gridCol w="16760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IT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THINK TWICE WHEN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TERMS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Protective put (overlay)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Protecting a winner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 a specific event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vol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client refuses to cap upside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rich (collar better) · protection needed for years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spread variant: cushions a correction more cheaply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Zero-cost collar (overlay)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Concentrated, low-basis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winner the client won't sell · vol rich · near-term need for certainty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strongly bullish · position small (just trim)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6–12m; put 85–90%; call sets zero cost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Prepaid variable forward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 low-basis holder needs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and protection now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sale deferred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size; no tax adviser involved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sizes; OTC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trim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must come down; derivatives unavailable/unwanted; spread the tax bill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Monthly/quarterly or across tax years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Buffered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Re-entry after a loss harvest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nervous client wants upside · late in a rally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thinks it's a guarantee: below the barrier the loss runs from par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12–18m, 70% barrier, 100% participation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Capital-protected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</a:t>
                      </a:r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can't accept capital loss</a:t>
                      </a:r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but wants some upside · rates high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very low · may need money before maturity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floor; capped or &lt;100% participation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Tax-loss harvest + re-entry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Meaningful loss, gains to offset, still wants exposure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Wash-sale rules (31 days in US; differs by country)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Re-enter via peer, ETF, or buffered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Borrow against the book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Near-term liability; selling would be tax-inefficient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Concentrated, volatile collateral (margin-call risk)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Securities-backed line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286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MENU · SUBSTITUTION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72738" y="452628"/>
            <a:ext cx="757031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client can't use the best product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nearest allowed product </a:t>
            </a:r>
            <a:pPr indent="0" marL="0"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keeps the purpose of the trade</a:t>
            </a:r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state what is lost. "Not available in a sensible form" is a legitimate answer.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4023360"/>
                <a:gridCol w="1858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IDEAL (PROFESSIONAL / OTC)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PURPOSE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NEAREST PACKAGED OR CASH ALTERNATIVE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YOU GIVE UP</a:t>
                      </a:r>
                      <a:endParaRPr lang="en-US" sz="10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Defined-risk upside to a target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participation note, or a small stock position sized to the premium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tenor, precise event timing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on a holding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from a flat winner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trim; for </a:t>
                      </a:r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money, a reverse convertible or autocall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overlay itself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Cash-secured put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to buy lower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convertible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Flexibility on strike and tenor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 on a concentrated winner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 without selling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trim + buffered or capital-protected note on the proceeds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deferral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Protective put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through an event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 before the event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Keeping full exposure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put spread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portfolio protection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Rebalance, raise cash, add genuine diversifiers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Convexity</a:t>
                      </a:r>
                      <a:endParaRPr lang="en-US" sz="13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3938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TOGETHER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80283" y="452628"/>
            <a:ext cx="846277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single-name decision walk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4173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Direction · target · catalyst date · path · conviction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848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Suitability.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can they hold? Objective? Will they need the money within the tenor? → if yes, stock or nothing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rgbClr val="DE8974"/>
          </a:solidFill>
          <a:ln w="12700">
            <a:solidFill>
              <a:srgbClr val="DE89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523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Concentrated →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adding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protect/reduce · Loss →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first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Big gain → overwrite/trim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41985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Rich, fair or cheap vs realised, history, past earnings moves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0873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 shape × vol × objective → the menu (right)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28032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7548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 + "why not the obvious alternative"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3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4223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Terms.</a:t>
            </a:r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Tenor from catalyst · strikes from target · barrier where you'd own it · size within limits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17320"/>
          <a:ext cx="505937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076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 SHAPE × VOL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 PRODUCT TO CONSIDER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up, no event, fair vol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up, cheap vol, catalyst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call / call spread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a target / event in window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spread (expiry after the event)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Flat-to-up, rich vol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 / Phoenix (new) · covered call (held)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own lower, rich vol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sale · reverse convertible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Nervous re-entry / wants cushion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Buffered note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Can't lose capital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Capital-protected note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Fade an overdone rally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call spread / overwrite; never a naked short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Sector-level thesis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ETF (+ overwrite), not a single name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3938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TOGETHER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80283" y="452628"/>
            <a:ext cx="846277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view × volatility matrix (new-money trades)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0" y="1417320"/>
            <a:ext cx="2905658" cy="411480"/>
          </a:xfrm>
          <a:prstGeom prst="rect">
            <a:avLst/>
          </a:prstGeom>
          <a:solidFill>
            <a:srgbClr val="171A1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4173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 VOL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31738" y="1417320"/>
            <a:ext cx="2905658" cy="411480"/>
          </a:xfrm>
          <a:prstGeom prst="rect">
            <a:avLst/>
          </a:prstGeom>
          <a:solidFill>
            <a:srgbClr val="171A1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31738" y="14173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 VOL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37397" y="1417320"/>
            <a:ext cx="2905658" cy="411480"/>
          </a:xfrm>
          <a:prstGeom prst="rect">
            <a:avLst/>
          </a:prstGeom>
          <a:solidFill>
            <a:srgbClr val="171A1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7397" y="14173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DBA7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 VOL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182880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828800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35808" y="182880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call / call spread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31738" y="1828800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1466" y="182880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or call spread if event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37397" y="1828800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47125" y="182880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 (sell rich upper strike) or risk reversal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505456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2505456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a target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2505456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35808" y="2505456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31738" y="2505456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1466" y="2505456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37397" y="2505456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47125" y="2505456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 (better value)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182112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3182112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to modestly up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3182112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35808" y="3182112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Stock. Don't sell cheap insurance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31738" y="3182112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1466" y="3182112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Autocall / Phoenix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37397" y="3182112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47125" y="3182112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Autocall / Phoenix / covered call: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3858768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3858768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own it lower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926080" y="3858768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35808" y="3858768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Wait, or small position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31738" y="3858768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1466" y="3858768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sale / reverse convertible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737397" y="3858768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47125" y="3858768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sale / reverse convertible: </a:t>
            </a:r>
            <a:pPr indent="0" marL="0"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well to wait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535424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8368" y="4535424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a holding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926080" y="4535424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035808" y="4535424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 put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31738" y="4535424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41466" y="4535424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737397" y="4535424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47125" y="4535424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Collar (the call funds the put)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5212080"/>
            <a:ext cx="2377440" cy="676656"/>
          </a:xfrm>
          <a:prstGeom prst="rect">
            <a:avLst/>
          </a:prstGeom>
          <a:solidFill>
            <a:srgbClr val="1A1E18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8368" y="5212080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Overdone rally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926080" y="5212080"/>
            <a:ext cx="2905658" cy="676656"/>
          </a:xfrm>
          <a:prstGeom prst="rect">
            <a:avLst/>
          </a:prstGeom>
          <a:solidFill>
            <a:srgbClr val="15223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035808" y="521208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spread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831738" y="5212080"/>
            <a:ext cx="2905658" cy="676656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1466" y="521208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call spread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737397" y="5212080"/>
            <a:ext cx="2905658" cy="676656"/>
          </a:xfrm>
          <a:prstGeom prst="rect">
            <a:avLst/>
          </a:prstGeom>
          <a:solidFill>
            <a:srgbClr val="271D10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847125" y="5212080"/>
            <a:ext cx="2686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call spread / overwrite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across a row: </a:t>
            </a:r>
            <a:pPr indent="0" marL="0">
              <a:buNone/>
            </a:pPr>
            <a:r>
              <a:rPr lang="en-US" sz="1200" b="1" i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volatility gets richer, move from buying optionality to selling it.</a:t>
            </a:r>
            <a:pPr indent="0" marL="0">
              <a:buNone/>
            </a:pPr>
            <a:r>
              <a:rPr lang="en-US" sz="12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Cheap-vol column = buyer's market; rich-vol column = seller's market.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6130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CASE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99386" y="452628"/>
            <a:ext cx="924367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earnings playbook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concentrate a lot of risk into one night, so they get their own rules.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572000"/>
                <a:gridCol w="3047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SITUATION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REASONING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IMPLEMENTATION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results · constructive · client doesn't own it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believe the business, not necessarily the reaction. Pay a known premium rather than risk a gap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 week call spread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expiring after the print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results · client owns a lot · options price a big move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market is overpaying for event insurance. The owner can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or collar </a:t>
                      </a:r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</a:t>
                      </a:r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the print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 reported · great numbers · stock fell anyway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Reaction was valuation/positioning, not the business. Opportunity, but the nervous tape is still there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+ collar, or call spread; staged entry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 reported · collapsing on a one-off fact (e.g. one-customer disclosure)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Don't catch the knife. Get paid for offering to buy lower while vol is high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puts / reverse convertible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 reported · jumped on low-quality EPS (one-off gain)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 partly unjustified, but the underlying may be improving. Don't short outright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a call spread, or overwrite the holding</a:t>
                      </a:r>
                      <a:endParaRPr lang="en-US" sz="13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0592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845613" y="452628"/>
            <a:ext cx="879744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idea, four clients, four right answers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</a:t>
            </a:r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chip designer reports in 5 weeks; demand intact but the tape sold two excellent results this month; stock ~8% off its high vs sector ~20% off. Natural implementation: </a:t>
            </a:r>
            <a:pPr indent="0" marL="0"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spread after the print.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3291840"/>
                <a:gridCol w="35048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OWNS IT?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REASONING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IMPLEMENTATION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Professional, aggressive growth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Everything lines up: growth, derivatives allowed, new money, event in window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4–6w call spread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long ~ATM, short ~+15%. </a:t>
                      </a:r>
                      <a:pPr indent="0" marL="0">
                        <a:buNone/>
                      </a:pPr>
                      <a:r>
                        <a:rPr lang="en-US" sz="1210" i="1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not stock: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bad reaction could gap it 10% with the thesis still right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Professional, aggressive growth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 of book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big gain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 view, but already dangerously concentrated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new exposure.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Zero-cost collar or covered call through the print. </a:t>
                      </a:r>
                      <a:pPr indent="0" marL="0">
                        <a:buNone/>
                      </a:pPr>
                      <a:r>
                        <a:rPr lang="en-US" sz="1210" i="1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not the call spread: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adds risk they have too much of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Retail, growth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 of book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+279%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concentration problem; OTC not allowed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trim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buffered note / diversified equity. Raise reclassification if a collar is wanted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Retail, income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single-stock earnings bet doesn't fit an income goal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or a 12–18m autocall on the name/sector after the event while vol is still elevated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61701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EXAMPLES B &amp; 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03397" y="452628"/>
            <a:ext cx="8239658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dislocated quality stock, and the fade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63624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122420"/>
          </a:solidFill>
          <a:ln w="12700">
            <a:solidFill>
              <a:srgbClr val="12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5636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VOL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91109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Memory maker 25% off its high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50008"/>
            <a:ext cx="51572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recovers, timing unknown, happy to own here or lower. Vol elevated after the fall →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optionality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client, doesn't own it: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12m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autocall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~70% barrier; coupon funded by rich vol.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growth, doesn't own it: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stock + covered call, or a 3m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sale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~15% lower.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with a 26% position at 4x: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 of the above. A note on the same stock is more of the same risk.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or protect first.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down 20% from a higher entry: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harvest, then re-enter via a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buffered note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333695" cy="47548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56362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52230"/>
          </a:solidFill>
          <a:ln w="12700">
            <a:solidFill>
              <a:srgbClr val="1522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15636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2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1911096"/>
            <a:ext cx="5004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· Retailer pops on one-off earnings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350008"/>
            <a:ext cx="5004511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+4% on results, but ~40% of EPS from a one-off refund; underlying sales genuinely good; overbought near the 52-week high.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modest pullback, not a collapse.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short outright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business is improving.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overwrite with 2–3m calls just above spot.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non-owners: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sell a call spread (defined risk).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non-owners: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nothing. No clean implementation exists, and that is acceptable.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1188720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24482" y="1312164"/>
            <a:ext cx="943569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Bonds: how the thinking changes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five questions, different answers. Bonds usually implement a need, and the market's price is the curve and the spread rather than volatility.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0592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BONDS · THE 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845613" y="452628"/>
            <a:ext cx="879744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Bonds implement a need; a view adjusts it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work usually starts from "we like this stock." Bond work usually starts from "$2m a year of income," "a tax bill in 18 months," or "15% in cash earning nothing."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 OF A BOND VIEW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QUESTION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of rates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yields rise or fall?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"The central bank will cut, so yields fall"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Curve shape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long yields move more or less than short ones?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"Front end anchored, long end keeps selling off" (bear steepener)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volatility / range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rates stay in a range or break out?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"The 10-year stays 4.25–5.00% for a year"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spread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borrowers pay more or less over governments?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"Spreads are tight; little reward for credit risk"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issuer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this company's debt mispriced?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"Its bonds price a downgrade that won't happen"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 or below what's priced?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"Breakevens are too low"</a:t>
                      </a:r>
                      <a:endParaRPr lang="en-US" sz="12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532120"/>
            <a:ext cx="11094415" cy="64008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532120"/>
            <a:ext cx="36576" cy="640080"/>
          </a:xfrm>
          <a:prstGeom prst="rect">
            <a:avLst/>
          </a:prstGeom>
          <a:solidFill>
            <a:srgbClr val="3B4335"/>
          </a:solidFill>
          <a:ln w="12700">
            <a:solidFill>
              <a:srgbClr val="3B43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64184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PRICE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589788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paid: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(carry) ·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roll-down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(yield falling as a bond ages along an upward curve) ·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(extra yield for credit risk).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BONDS · CLIENT &amp; HOLDINGS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9624" y="452628"/>
            <a:ext cx="7793431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and the book, bond edition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 FACTOR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 IT MATTERS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need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cash flow, how regularly → coupon level and structure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Liabilities &amp; dates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outflows with bonds maturing just before them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of bonds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Ballast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→ quality government duration ·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→ mix incl. credit ·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replacement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→ short, safe paper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Reinvestment risk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earns less once rates fall; extending locks today's yields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Tax-exempt munis for high brackets; harvest losses on low-coupon bonds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4251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THEY HOLD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IMPLEMENTATION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much cash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 ladder → short bonds → extend where the curve pays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low-coupon bonds at a loss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 swap: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sell, realise the tax loss, buy similar-quality current-coupon bonds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Long-duration bond, deep loss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 into shorter or laddered maturities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government, no credit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into quality corporates/securitised if spreads compensate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 credit, little government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government duration (credit falls with equities)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Bonds maturing into a liability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 it.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Don't trade a matched position for a view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44019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 MENU · FRONT END &amp; CORE DURATION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88306" y="452628"/>
            <a:ext cx="645475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Cash, the front end, and core duration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  <a:gridCol w="3047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IT WHEN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THINK TWICE WHEN</a:t>
                      </a:r>
                      <a:endParaRPr lang="en-US" sz="91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T-bills / bill ladder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Parking cash safely · liabilities within a year ·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inverted curve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(paid to stay short)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Cuts are coming: income drops as bills roll lower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Short-duration bonds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cash drag with minimal rate risk; lock yield a little longer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want real ballast (too little duration)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Floating-rate notes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 rates to stay high or rise; want income that moves with them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Cuts are coming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bonds (chosen maturity)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ballast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expect yields to fall · lock a yield for a horizon. Go where the curve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pays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(roll-down) and where your view is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end if your view is it keeps selling off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 ladder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Predictable cash flow ·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strong rates view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· reinvesting after a swap. Neither rates up nor down is a disaster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have a strong curve view to express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 funds / ETFs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tickets · wide issuer diversification · daily liquidity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needs a </a:t>
                      </a:r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amount on a date</a:t>
                      </a:r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(funds have no maturity)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Inflation-linked bonds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 will exceed the breakeven · real (inflation-linked) liabilities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Breakevens already high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5294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 MENU · CREDIT, STRUCTURED RATES, HYBRIDS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80760" y="452628"/>
            <a:ext cx="5562295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Credit, structured rate notes and hybrids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8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3230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CONSIDER IT WHEN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THINK TWICE WHEN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 corporates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clients stepping out of governments; spreads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 enough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Spreads historically tight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yield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Growth-tolerant income; spreads wide; supportive cycle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Preservation clients · late cycle · it's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ballast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Securitised (MBS/ABS)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Diversifying income beyond govts and corporates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doesn't understand prepayment/extension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Municipal bonds (US)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High-bracket US taxable clients; compare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after-tax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yield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tax bracket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Credit-linked note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specific credit view in note form; enhanced coupon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doesn't grasp the double credit risk (name + issuer)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accrual note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View: rates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stay in a range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income above a plain bond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Breakout plausible: coupon can go to zero while locked up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Callable bond / note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won't fall much</a:t>
                      </a:r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keep the higher coupon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cuts expected: called just when you want to keep it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Curve (steepener/CMS) notes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curve-shape view; specialist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private clients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Convertible bonds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upside with a bond floor; cautious fans of a company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income need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futures / swaps / swaptions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 duration hedging or tactical views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for private clients is </a:t>
                      </a:r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bonds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3938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TOGETHER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80283" y="452628"/>
            <a:ext cx="846277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bond decision walk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014057" cy="3017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15910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0116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first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43200"/>
            <a:ext cx="17214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Liabilities? Match them with bills/bonds maturing just before each date.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for that slice.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544409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18729" y="1463040"/>
            <a:ext cx="2014057" cy="301752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65033" y="15910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65033" y="20116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65033" y="2743200"/>
            <a:ext cx="17214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Ballast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govt duration ·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ladder, IG, munis, securitised ·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bills, short, floaters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14499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88819" y="1463040"/>
            <a:ext cx="2014057" cy="3017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5123" y="15910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35123" y="20116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holdings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35123" y="2743200"/>
            <a:ext cx="17214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cash → deploy · low-coupon losers →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swap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credit-only → add govt ballast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8458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58908" y="1463040"/>
            <a:ext cx="2014057" cy="3017520"/>
          </a:xfrm>
          <a:prstGeom prst="rect">
            <a:avLst/>
          </a:prstGeom>
          <a:solidFill>
            <a:srgbClr val="1C201A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05212" y="15910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05212" y="20116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view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05212" y="2743200"/>
            <a:ext cx="17214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→ extend where curve pays · Sticky → short/floaters · Range → range accrual/callable · None → ladder · Spreads tight → up in quality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5467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C1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28998" y="1463040"/>
            <a:ext cx="2014057" cy="30175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75302" y="1591056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75302" y="201168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Wrapper &amp; terms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75302" y="2743200"/>
            <a:ext cx="17214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amount on a date → </a:t>
            </a:r>
            <a:pPr indent="0" marL="0">
              <a:buNone/>
            </a:pPr>
            <a:r>
              <a:rPr lang="en-US" sz="115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bonds</a:t>
            </a:r>
            <a:pPr indent="0" marL="0">
              <a:buNone/>
            </a:pPr>
            <a:r>
              <a:rPr lang="en-US" sz="115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small → fund · rate-shape view → note · hedging → futures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94415" cy="100584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800600"/>
            <a:ext cx="36576" cy="1005840"/>
          </a:xfrm>
          <a:prstGeom prst="rect">
            <a:avLst/>
          </a:prstGeom>
          <a:solidFill>
            <a:srgbClr val="5FC1A4"/>
          </a:solidFill>
          <a:ln w="12700">
            <a:solidFill>
              <a:srgbClr val="5FC1A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491032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C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TEST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51663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structured rate note, compare it with the plain bond of the same maturity.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does the note pay extra, and what does the client give up to get it: upside if rates fall, coupon on out-of-range days, liquidity, issuer credit? If you can't answer both clearly, use the plain bond.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23938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EXAMPLES D–G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80283" y="452628"/>
            <a:ext cx="8462772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bond situations, reasoned through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10048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563624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· Cash-heavy income client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002536"/>
            <a:ext cx="508086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cash, no liabilities for 5 years, cuts expected, curve pays more in 3–7y.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2–3% in bills; ladder the rest 1–7y, tilted to 3–5y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govt + IG (munis if after-tax yield wins).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 fund: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certain cash flows.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all 10y: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 much rate risk for little extra.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1417320"/>
            <a:ext cx="5410048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7600" y="1563624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· Legacy 1.25% bond, −15%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97600" y="2002536"/>
            <a:ext cx="508086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is rates, not credit. Holding it = choosing 1.25% when new bonds pay ~4%+.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swap: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sell, harvest the loss, buy similar maturity/quality at current coupon. Risk barely changes; income rises; tax asset banked. Check wash-sale rules.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10048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123944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· The range view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562856"/>
            <a:ext cx="508086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rates anchored; long yields keep hitting a ceiling; 10y traded 4.25–5.00% for months at ~4.6%. A plain bond pays if yields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view is they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put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monetise low rate vol: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 range accrual on the 10y, band 4.25–5.00%.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up: coupon out of range, 12m lock-up, issuer credit.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3977640"/>
            <a:ext cx="5410048" cy="2331720"/>
          </a:xfrm>
          <a:prstGeom prst="rect">
            <a:avLst/>
          </a:prstGeom>
          <a:solidFill>
            <a:srgbClr val="171A15"/>
          </a:solidFill>
          <a:ln w="9525">
            <a:solidFill>
              <a:srgbClr val="2B31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7600" y="4123944"/>
            <a:ext cx="508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· The liability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4562856"/>
            <a:ext cx="508086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property purchase in 30 months. A need, not a view.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government bonds/bills maturing just before the date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amount plus a margin.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 fund or a note: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value on the date must be certain.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0552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841602" y="452628"/>
            <a:ext cx="9801454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and common mistakes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4206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client are separate.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the view right, then fit 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view into parts.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maps to a product feature.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 before views.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Concentration, losses, liabilities first.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who pays whom for optionality.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Buy cheap, sell rich.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Stock or plain bond is the benchmark.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note is credit and illiquidity.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BFC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Spread issuers; match tenor.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EA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fallback and the "why not."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661385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047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MISTAKE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 IT'S WRONG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Adding to a concentrated stock because "we're bullish"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dominates any single view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call or collar for a non-holder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Overlays only exist on holdings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Selling options when vol is cheap "for income"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too little for the risk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Buying calls into earnings that price a huge move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beat a large expected move to break even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worst-of name the client wouldn't own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worst performer is what they'll end up with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Calling a buffered note "protected"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the barrier, loss runs from par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bond fund for a dated liability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maturity; value on the date unknown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low coupons "until back to par"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That's choosing low income; swap instead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yield as ballast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6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falls with equities in a crisis</a:t>
                      </a:r>
                      <a:endParaRPr lang="en-US" sz="11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4008" cy="64008"/>
          </a:xfrm>
          <a:prstGeom prst="ellipse">
            <a:avLst/>
          </a:prstGeom>
          <a:solidFill>
            <a:srgbClr val="949C8B"/>
          </a:solidFill>
          <a:ln w="12700">
            <a:solidFill>
              <a:srgbClr val="949C8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329184"/>
            <a:ext cx="12783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94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64715" y="452628"/>
            <a:ext cx="9578340" cy="0"/>
          </a:xfrm>
          <a:prstGeom prst="line">
            <a:avLst/>
          </a:prstGeom>
          <a:noFill/>
          <a:ln w="9525">
            <a:solidFill>
              <a:srgbClr val="2B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5836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EA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BOOK · FROM IDEA TO IMPLEMENTATION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87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8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100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64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TERM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 that redeems early if the underlying is at/above a set level on an observation date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Barrier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(e.g. 70%) that, if breached, exposes capital to loss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 steepener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yields rise faster than short yields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a position earns just by being held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+ bought put + sold call; value kept inside a band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value change per 1-unit stock move; loosely, direct exposure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bond's sensitivity to rate changes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vol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move the options market expects: the price of optionality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Ladder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Bonds with staggered maturities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coupon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Missed coupons paid later if conditions are met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417320"/>
          <a:ext cx="54100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64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TERM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spc="100" kern="0" dirty="0">
                          <a:solidFill>
                            <a:srgbClr val="949C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89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B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Bilateral contract with a bank, not exchange-traded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Overlay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 that reshapes an existing holding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Packaged product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security (ISIN) bundling derivatives inside a note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Realised vol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the stock has actually moved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Roll-down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gain as maturity shortens along an upward curve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vol difference between downside and upside options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(credit)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yield a corporate bond pays over government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Tenor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until a product matures or expires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Wash-sale rule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disallowed if a substantially identical security is rebought within a window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b="1" dirty="0">
                          <a:solidFill>
                            <a:srgbClr val="EAEE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Worst-of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90" dirty="0">
                          <a:solidFill>
                            <a:srgbClr val="BFC7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 payoff following the worst-performing name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32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Implementation</dc:title>
  <dc:subject>PptxGenJS Presentation</dc:subject>
  <dc:creator>Open Book desk</dc:creator>
  <cp:lastModifiedBy>Open Book desk</cp:lastModifiedBy>
  <cp:revision>1</cp:revision>
  <dcterms:created xsi:type="dcterms:W3CDTF">2026-09-25T06:14:36Z</dcterms:created>
  <dcterms:modified xsi:type="dcterms:W3CDTF">2026-09-25T06:14:36Z</dcterms:modified>
</cp:coreProperties>
</file>