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9144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325880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Idea to Implementation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743200"/>
            <a:ext cx="107286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5A3E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a market view becomes the right trade for a specific client, for single-name equities and bonds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79476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92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September 2026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413684" y="379476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92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Single-name equities · Bonds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095848" y="379476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92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Audience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new to the desk's process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8778011" y="3794760"/>
            <a:ext cx="249928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921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Companion</a:t>
            </a:r>
            <a:endParaRPr lang="en-US" sz="1100" dirty="0"/>
          </a:p>
          <a:p>
            <a:pPr indent="0" marL="0">
              <a:buNone/>
            </a:pPr>
            <a:r>
              <a:rPr lang="en-US" sz="105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Derivatives Structuring Methodology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31520" y="4709160"/>
            <a:ext cx="10728655" cy="0"/>
          </a:xfrm>
          <a:prstGeom prst="line">
            <a:avLst/>
          </a:prstGeom>
          <a:noFill/>
          <a:ln w="15875">
            <a:solidFill>
              <a:srgbClr val="9A7B4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4764024"/>
            <a:ext cx="10728655" cy="0"/>
          </a:xfrm>
          <a:prstGeom prst="line">
            <a:avLst/>
          </a:prstGeom>
          <a:noFill/>
          <a:ln w="15875">
            <a:solidFill>
              <a:srgbClr val="9A7B4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5029200"/>
            <a:ext cx="10728655" cy="868680"/>
          </a:xfrm>
          <a:prstGeom prst="rect">
            <a:avLst/>
          </a:prstGeom>
          <a:solidFill>
            <a:srgbClr val="EDF2ED"/>
          </a:solidFill>
          <a:ln w="9525">
            <a:solidFill>
              <a:srgbClr val="C9D8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96112" y="5175504"/>
            <a:ext cx="1545336" cy="256032"/>
          </a:xfrm>
          <a:prstGeom prst="roundRect">
            <a:avLst>
              <a:gd name="adj" fmla="val 17857"/>
            </a:avLst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5175504"/>
            <a:ext cx="1545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ONE-LINE TRUTH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2578608" y="5120640"/>
            <a:ext cx="87169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idea is a statement about the market. An implementation is a statement about the client.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One idea can correctly become five different trades for five different clients. This deck explains how the desk reasons its way to the right one.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idea, different right answers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539496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591056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9A7B4F"/>
          </a:solidFill>
          <a:ln w="12700">
            <a:solidFill>
              <a:srgbClr val="9A7B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" y="15910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1920240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idea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322576"/>
            <a:ext cx="510235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"Micron is too cheap after a 25% fall."</a:t>
            </a:r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True or false regardless of who you are talking to. It is a claim about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direction, size, timing.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309360" y="1463040"/>
            <a:ext cx="5333695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55664" y="1591056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159105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1920240"/>
            <a:ext cx="50410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implementation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322576"/>
            <a:ext cx="5041087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"Sell Client A a 12-month autocall on Micron. Client B should trim the Micron they own and buy a buffered note with the proceeds."</a:t>
            </a:r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makes sense once you know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the client is and what they own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56994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goes wrong if you skip the client step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 add risk the client already has too much of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Recommending more of a stock that is already 24% of the book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 propose a product the client cannot hold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 OTC collar for a client who can only hold packaged products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 propose a product that does not fit the goal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single-stock earnings bet for a capital-preservation client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 propose an overlay on something they do not own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covered call for a client with no shares to write against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METHOD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questions, always in this order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answer narrows the options for the next. Jumping straight to a favourite product ("let's do an autocall") is the most common way to get it wrong.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2014057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76656" y="22585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6974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view?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76656" y="3429000"/>
            <a:ext cx="17580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Direction, size of move, timing, path, conviction. Sets the </a:t>
            </a:r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payoff shape</a:t>
            </a:r>
            <a:pPr indent="0" marL="0">
              <a:buNone/>
            </a:pPr>
            <a:r>
              <a:rPr lang="en-US" sz="120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44409" y="30403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2818729" y="2148840"/>
            <a:ext cx="2014057" cy="233172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46745" y="22585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2946745" y="26974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is the client?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946745" y="3429000"/>
            <a:ext cx="17580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Suitability, objective, horizon, tax, currency. Sets what is </a:t>
            </a:r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allowed and appropriate</a:t>
            </a:r>
            <a:pPr indent="0" marL="0">
              <a:buNone/>
            </a:pPr>
            <a:r>
              <a:rPr lang="en-US" sz="120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814499" y="30403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5088819" y="2148840"/>
            <a:ext cx="2014057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216835" y="22585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5216835" y="26974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do they own?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16835" y="3429000"/>
            <a:ext cx="17580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money or overlay?</a:t>
            </a:r>
            <a:pPr indent="0" marL="0">
              <a:buNone/>
            </a:pPr>
            <a:r>
              <a:rPr lang="en-US" sz="120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Concentration, big gains and losses change everything.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084588" y="30403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7358908" y="2148840"/>
            <a:ext cx="2014057" cy="233172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86924" y="22585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7486924" y="26974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the market charging?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486924" y="3429000"/>
            <a:ext cx="17580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Option prices (volatility), yields, curve, spreads. </a:t>
            </a:r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Buy or sell optionality?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9354678" y="30403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28" name="Shape 26"/>
          <p:cNvSpPr/>
          <p:nvPr/>
        </p:nvSpPr>
        <p:spPr>
          <a:xfrm>
            <a:off x="9628998" y="2148840"/>
            <a:ext cx="2014057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757014" y="22585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757014" y="26974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Which product?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9757014" y="3429000"/>
            <a:ext cx="17580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product that delivers the payoff most cheaply, plus </a:t>
            </a:r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terms and size</a:t>
            </a:r>
            <a:pPr indent="0" marL="0">
              <a:buNone/>
            </a:pPr>
            <a:r>
              <a:rPr lang="en-US" sz="120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48640" y="4800600"/>
            <a:ext cx="11094415" cy="100584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13232" y="4946904"/>
            <a:ext cx="1078992" cy="256032"/>
          </a:xfrm>
          <a:prstGeom prst="roundRect">
            <a:avLst>
              <a:gd name="adj" fmla="val 17857"/>
            </a:avLst>
          </a:prstGeom>
          <a:solidFill>
            <a:srgbClr val="9A7B4F"/>
          </a:solidFill>
          <a:ln w="12700">
            <a:solidFill>
              <a:srgbClr val="9A7B4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13232" y="4946904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OUTPUT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1929384" y="4892040"/>
            <a:ext cx="954907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The primary trade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product, underlying, strikes or barrier, tenor, size. 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The fallback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what to do if the client can't or won't do the primary.  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Why not the obvious alternative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one sentence on why you didn't just buy the stock or bond. If you can't write it, the simple trade is probably right.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1: What exactly is the view?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A3E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"We like the stock" is not precise enough to implement. Break the view into parts, because each part corresponds to a feature of a product.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· THE VIEW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five parts of an equity view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657600"/>
                <a:gridCol w="5516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 of the view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question to ask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 for the implementation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Direction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Up, down, or sideways?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Up/down → </a:t>
                      </a:r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directional</a:t>
                      </a:r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products. Sideways → </a:t>
                      </a:r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income</a:t>
                      </a:r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products that are paid for nothing happening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Magnitude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How far? Is there a target?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With a target you can </a:t>
                      </a:r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 the upside beyond it</a:t>
                      </a:r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to cheapen the trade (a spread). Open-ended upside should not be capped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Timing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By when? Is there a dated catalyst (earnings, launch, ruling)?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date sets the </a:t>
                      </a:r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tenor</a:t>
                      </a:r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of an option. No date → no reason to rent exposure; own it outright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Path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Smooth grind, or violent and two-sided on the way?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violent path makes options expensive and barrier products risky. A calm path suits </a:t>
                      </a:r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selling</a:t>
                      </a:r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options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Confidence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High conviction, or "probably, but I could be wrong"?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High conviction can justify open-ended exposure (stock). Lower conviction → </a:t>
                      </a:r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defined risk</a:t>
                      </a:r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 know the maximum loss in advance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· THE VIEW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Eight view shapes, eight product families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749040"/>
                <a:gridCol w="2651760"/>
                <a:gridCol w="24990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 shape</a:t>
                      </a:r>
                      <a:endParaRPr lang="en-US" sz="11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 plain words</a:t>
                      </a:r>
                      <a:endParaRPr lang="en-US" sz="11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Payoff you want</a:t>
                      </a:r>
                      <a:endParaRPr lang="en-US" sz="11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 families</a:t>
                      </a:r>
                      <a:endParaRPr lang="en-US" sz="11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Breakout / strong up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"A lot higher, I don't know where it stops"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Uncapped upside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Stock · long call · participation note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Up to a level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"It goes to ~$250, then I'm not sure"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Upside to the target only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Call spread · capped participation note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Flat to modestly up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"Won't fall much, won't rip either"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Paid for time passing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Covered call · autocall · Phoenix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"I'd own it lower"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"Good company, I want a better entry"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Paid to wait; bought at a discount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Cash-secured put · reverse convertible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Protect what I have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"I own a lot, I've made money, I'm nervous"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floor under a position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Protective put · collar · trim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Fade / overdone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"The move was too big, it gives some back"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Profit from a modest pullback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 a call spread · overwrite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Re-enter after a loss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"I still believe, but can't take another 30%"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Upside with a cushion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Buffered note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Can't lose capital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"Equity upside, but no loss of principal"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floor at 100%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Capital-protected note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1 · WORKED EXAMPLE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Taking a view apart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"Nvidia reports in five weeks. The business is fine, but the market has punished two clean beats this month. I think it rises, maybe 10–15%, but the reaction could be ugly."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2072579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DIRECTION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2804099" y="2331720"/>
            <a:ext cx="2072579" cy="114300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941259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MAGNITUDE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2941259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a level (~15%)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059558" y="2331720"/>
            <a:ext cx="2072579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96718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TIMING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196718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Dated: 5 weeks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15017" y="2331720"/>
            <a:ext cx="2072579" cy="114300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52177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7452177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Violent: earnings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9570476" y="2331720"/>
            <a:ext cx="2072579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07636" y="2450592"/>
            <a:ext cx="17982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CONFIDENCE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9707636" y="2743200"/>
            <a:ext cx="17982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Moderate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821528" y="35204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↓</a:t>
            </a:r>
            <a:endParaRPr lang="en-US" sz="2800" dirty="0"/>
          </a:p>
        </p:txBody>
      </p:sp>
      <p:sp>
        <p:nvSpPr>
          <p:cNvPr id="24" name="Shape 22"/>
          <p:cNvSpPr/>
          <p:nvPr/>
        </p:nvSpPr>
        <p:spPr>
          <a:xfrm>
            <a:off x="548640" y="4023360"/>
            <a:ext cx="11094415" cy="960120"/>
          </a:xfrm>
          <a:prstGeom prst="rect">
            <a:avLst/>
          </a:prstGeom>
          <a:solidFill>
            <a:srgbClr val="EDF2ED"/>
          </a:solidFill>
          <a:ln w="9525">
            <a:solidFill>
              <a:srgbClr val="C9D8C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13232" y="4169664"/>
            <a:ext cx="1234440" cy="256032"/>
          </a:xfrm>
          <a:prstGeom prst="roundRect">
            <a:avLst>
              <a:gd name="adj" fmla="val 17857"/>
            </a:avLst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3232" y="416966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IMPLEMENTATION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2084832" y="4114800"/>
            <a:ext cx="93936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call spread expiring 1–2 weeks after the results.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Defined cost, upside to the target, tenor set by the event. You get there by reasoning, not by picking a product first.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2064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0"/>
                <a:gridCol w="60652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Feature of the call spread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Which part of the view it answers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Long call near the money · short call at ~+15%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Magnitude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 pay only for the move you expect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Expiry after the print · max loss = premium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Timing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and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path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 survive a bad reaction without a gap loss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2: Who is the client?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A3E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Suitability is one bucket with several parts. Together they answer: what is this client allowed to hold, and what is actually appropriate for them?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2 · SUITABILITY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parts of suitability, and how each changes the trade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3474720"/>
                <a:gridCol w="5333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to find out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it changes the implementation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Classification &amp; experience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Retail or professional? Documented derivatives experience?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Retail generally can't trade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OTC derivatives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(collars, bespoke options) but can hold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packaged products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(notes, funds). If the ideal trade isn't allowed, find the nearest allowed equivalent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Objective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Growth, income, or preservation?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Growth →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directional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. Income →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coupon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(notes, covered calls, bonds). Preservation →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protective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(capital protection, buffers, collars, quality bonds)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Risk tolerance &amp; loss capacity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How much can they lose without it changing their life?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Low capacity rules out barrier products that can deliver a large loss, and leverage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Horizon &amp; liquidity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When might they need the money? Known liabilities?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Notes lock money up 1–3 years. A need inside that window vetoes them. Match known outflows with bills/bonds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first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Tax position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Low cost basis? Losses to harvest? Tax-exempt preference?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Big embedded gain → structures that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don't trigger a sale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. Embedded loss →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harvest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before re-entering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 currency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What currency do they measure wealth in?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USD note for a EUR client adds a currency bet. Prefer base-currency or hedged versions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623560"/>
            <a:ext cx="11094415" cy="566928"/>
          </a:xfrm>
          <a:prstGeom prst="rect">
            <a:avLst/>
          </a:prstGeom>
          <a:solidFill>
            <a:srgbClr val="EDF2ED"/>
          </a:solidFill>
          <a:ln w="9525">
            <a:solidFill>
              <a:srgbClr val="C9D8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5769864"/>
            <a:ext cx="845820" cy="256032"/>
          </a:xfrm>
          <a:prstGeom prst="roundRect">
            <a:avLst>
              <a:gd name="adj" fmla="val 17857"/>
            </a:avLst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5769864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PRINCIPLE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696212" y="5715000"/>
            <a:ext cx="9782251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Suitability shapes the implementation. It doesn't kill the idea.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Ask whether a form of the view fits the client, and drop it only when none does. Never downgrade silently.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3: What does the client already own?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A3E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This changes the answer more often than any other question, and it is the one most often forgotten.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· HOLDINGS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money or overlay? The first fork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bullish view means completely different things depending on whether the client owns none of the stock, a normal amount, or far too much.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539496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94944" y="2231136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6E7E8C"/>
          </a:solidFill>
          <a:ln w="12700">
            <a:solidFill>
              <a:srgbClr val="6E7E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94944" y="22311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CREATE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560320"/>
            <a:ext cx="51023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 money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94944" y="2962656"/>
            <a:ext cx="51023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 doesn't own the stock. You choose how to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exposure: stock, call spread, note, put sale. Full freedom; choose on view, suitability and pricing.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2103120"/>
            <a:ext cx="5333695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55664" y="2231136"/>
            <a:ext cx="690372" cy="256032"/>
          </a:xfrm>
          <a:prstGeom prst="roundRect">
            <a:avLst>
              <a:gd name="adj" fmla="val 17857"/>
            </a:avLst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55664" y="2231136"/>
            <a:ext cx="6903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RESHAPE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560320"/>
            <a:ext cx="50410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Overlay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55664" y="2962656"/>
            <a:ext cx="504108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 already owns it. You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reshape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exposure they have: add protection, generate income, reduce it.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4389120"/>
            <a:ext cx="11094415" cy="1143000"/>
          </a:xfrm>
          <a:prstGeom prst="rect">
            <a:avLst/>
          </a:prstGeom>
          <a:solidFill>
            <a:srgbClr val="F5E9E7"/>
          </a:solidFill>
          <a:ln w="9525">
            <a:solidFill>
              <a:srgbClr val="E3C9C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535424"/>
            <a:ext cx="1234440" cy="256032"/>
          </a:xfrm>
          <a:prstGeom prst="roundRect">
            <a:avLst>
              <a:gd name="adj" fmla="val 17857"/>
            </a:avLst>
          </a:prstGeom>
          <a:solidFill>
            <a:srgbClr val="8C3F3F"/>
          </a:solidFill>
          <a:ln w="12700">
            <a:solidFill>
              <a:srgbClr val="8C3F3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13232" y="4535424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ERROR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2084832" y="4480560"/>
            <a:ext cx="9393631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products only exist as overlays.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covered call sells a call against shares you own. A collar protects shares you own. Recommending either to someone who doesn't hold the stock is a category error. For a non-holder, "income on this name" means a </a:t>
            </a:r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sale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or a </a:t>
            </a:r>
            <a:pPr indent="0" marL="0">
              <a:spcAft>
                <a:spcPts val="400"/>
              </a:spcAft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reverse convertible</a:t>
            </a:r>
            <a:pPr indent="0" marL="0">
              <a:spcAft>
                <a:spcPts val="4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not a covered call.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· HOLDINGS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Holding situations and what each implies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572000"/>
                <a:gridCol w="37792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hold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How to think about it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implementation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Nothing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Full freedom: choose on view, suitability, pricing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Anything on the menu that fits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 position, modest P&amp;L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Adding is fine if the view is strong; otherwise overlay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Add via stock or a note · overwrite if sideways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Concentrated (&gt;~15% of book; &gt;20–25% is serious)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Don't add more of the same risk, however much you like the stock.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A note on the same stock is more risk, not diversification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Collar · protective put · prepaid variable forward · staged trim · exchange into a basket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Big winner (+50%), not concentrated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Would you buy it today at this price? If not with new money, monetise it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Covered call · staged trim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Big winner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and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concentrated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classic private-wealth problem: selling triggers tax, holding keeps the risk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Zero-cost collar · PVF · borrow against it · trim across tax years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Loser (down 10–20%+)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Separate two decisions: (1) take the tax loss; (2) do you still want the exposure?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Harvest, then re-enter via peer, ETF, or buffered note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Deep loser, emotionally attached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Waiting to break even isn't a strategy. Is this the best use of capital today?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a loser, framed as "repair"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3 · HOLDINGS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Book-level situations that create trades on their own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implementations come from the portfolio, not from a market view. Fix these before adding views.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148840"/>
            <a:ext cx="2072579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Idle cash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~8–10%+ of the book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F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Bill ladder · short bonds · put sales on names they'd own lower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04099" y="2148840"/>
            <a:ext cx="2072579" cy="356616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Currency mismatch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2941259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2941259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Large share outside base currency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2941259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F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2941259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Hedge it: forwards/collars, or currency-hedged share classes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59558" y="2148840"/>
            <a:ext cx="2072579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196718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Known liabilities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5196718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196718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Tax bills, property, mortgage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5196718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F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196718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matched ladder first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15017" y="2148840"/>
            <a:ext cx="2072579" cy="356616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52177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Sector concentration</a:t>
            </a:r>
            <a:endParaRPr lang="en-US" sz="1700" dirty="0"/>
          </a:p>
        </p:txBody>
      </p:sp>
      <p:sp>
        <p:nvSpPr>
          <p:cNvPr id="28" name="Text 26"/>
          <p:cNvSpPr txBox="1"/>
          <p:nvPr/>
        </p:nvSpPr>
        <p:spPr>
          <a:xfrm>
            <a:off x="7452177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7452177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30%+ in one sector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7452177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F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7452177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Diversify; don't add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9570476" y="2148840"/>
            <a:ext cx="2072579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07636" y="2286000"/>
            <a:ext cx="17982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Gaps vs objectives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707636" y="301752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TRIGGER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9707636" y="3246120"/>
            <a:ext cx="17982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Income client with little income; preservation client with little protection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9707636" y="4114800"/>
            <a:ext cx="17982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3F6B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9707636" y="4343400"/>
            <a:ext cx="1798259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Fill the gap before expressing views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4: What is the market charging?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A3E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view and same client can still produce different trades depending on price. For equities the price is option volatility. For bonds it is the curve and spreads.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· PRICING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Volatility: the price of insurance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4937760" cy="219456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13232" y="1563624"/>
            <a:ext cx="1389888" cy="256032"/>
          </a:xfrm>
          <a:prstGeom prst="roundRect">
            <a:avLst>
              <a:gd name="adj" fmla="val 17857"/>
            </a:avLst>
          </a:prstGeom>
          <a:solidFill>
            <a:srgbClr val="9A7B4F"/>
          </a:solidFill>
          <a:ln w="12700">
            <a:solidFill>
              <a:srgbClr val="9A7B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3232" y="156362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ONE PARAGRAPH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1508760"/>
            <a:ext cx="3081528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option is insurance.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Implied volatility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is its price: the move the market expects.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options are expensive to buy and pay well to sell.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the opposite.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structured note is built from options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so volatility also sets note terms: higher coupons on income notes (the investor sells insurance), worse participation on protected notes (the note buys it).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1417320"/>
          <a:ext cx="58823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504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Compare implied vol to…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tells you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Realised volatility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Options imply ±4%/day, stock moves ±2% → insurance is overpriced: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Its own 1-year history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Top of range → sellers have the edge. Bottom → buyers do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Earnings: implied move vs last 4 reactions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well below history →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buy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optionality. Well above →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Skew (put vs call vol)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Steep skew → selling puts &amp; barrier notes attractive; buying protection dearer. Collars work better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" y="3886200"/>
            <a:ext cx="4937760" cy="1828800"/>
          </a:xfrm>
          <a:prstGeom prst="rect">
            <a:avLst/>
          </a:prstGeom>
          <a:solidFill>
            <a:srgbClr val="ECEFF2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13232" y="4032504"/>
            <a:ext cx="1389888" cy="256032"/>
          </a:xfrm>
          <a:prstGeom prst="roundRect">
            <a:avLst>
              <a:gd name="adj" fmla="val 17857"/>
            </a:avLst>
          </a:prstGeom>
          <a:solidFill>
            <a:srgbClr val="6E7E8C"/>
          </a:solidFill>
          <a:ln w="12700">
            <a:solidFill>
              <a:srgbClr val="6E7E8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4032504"/>
            <a:ext cx="13898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RATES MATTER TOO</a:t>
            </a:r>
            <a:endParaRPr lang="en-US" sz="800" dirty="0"/>
          </a:p>
        </p:txBody>
      </p:sp>
      <p:sp>
        <p:nvSpPr>
          <p:cNvPr id="15" name="Text 12"/>
          <p:cNvSpPr txBox="1"/>
          <p:nvPr/>
        </p:nvSpPr>
        <p:spPr>
          <a:xfrm>
            <a:off x="2240280" y="3977640"/>
            <a:ext cx="30815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capital-protected note is a zero-coupon bond plus an option. </a:t>
            </a:r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Higher rates → cheaper bond → more budget for upside.</a:t>
            </a:r>
            <a:pPr indent="0" marL="0">
              <a:spcAft>
                <a:spcPts val="400"/>
              </a:spcAft>
              <a:buNone/>
            </a:pPr>
            <a:r>
              <a:rPr lang="en-US" sz="12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Protected notes are more attractive when rates are high than near zero.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760720" y="3886200"/>
            <a:ext cx="5882335" cy="1828800"/>
          </a:xfrm>
          <a:prstGeom prst="rect">
            <a:avLst/>
          </a:prstGeom>
          <a:solidFill>
            <a:srgbClr val="EDF2ED"/>
          </a:solidFill>
          <a:ln w="9525">
            <a:solidFill>
              <a:srgbClr val="C9D8C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925312" y="4032504"/>
            <a:ext cx="768096" cy="256032"/>
          </a:xfrm>
          <a:prstGeom prst="roundRect">
            <a:avLst>
              <a:gd name="adj" fmla="val 17857"/>
            </a:avLst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925312" y="403250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RULE</a:t>
            </a:r>
            <a:endParaRPr lang="en-US" sz="800" dirty="0"/>
          </a:p>
        </p:txBody>
      </p:sp>
      <p:sp>
        <p:nvSpPr>
          <p:cNvPr id="19" name="Text 16"/>
          <p:cNvSpPr txBox="1"/>
          <p:nvPr/>
        </p:nvSpPr>
        <p:spPr>
          <a:xfrm>
            <a:off x="6830568" y="3977640"/>
            <a:ext cx="464789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 the view doesn't depend on volatility, don't pay for volatility you don't need. If the market is overpaying for insurance, be the one selling it.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 4 · PRICING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the volatility regime does to each view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75488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Situation</a:t>
                      </a:r>
                      <a:endParaRPr lang="en-US" sz="12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to do</a:t>
                      </a:r>
                      <a:endParaRPr lang="en-US" sz="12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</a:t>
                      </a:r>
                      <a:endParaRPr lang="en-US" sz="12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+ strong directional view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Buy options / call spreads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Leverage is cheap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rich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+ directional view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Use a 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spread</a:t>
                      </a:r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(sell the expensive upper strike), or own the stock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Don't overpay for a call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rich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+ neutral-to-positive view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 it</a:t>
                      </a:r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 covered calls, put sales, reverse convertibles, autocalls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 are paid well for a risk you are comfortable with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+ want protection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Buy puts</a:t>
                      </a:r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outright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Protection is on sale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Vol 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rich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+ want protection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Collar</a:t>
                      </a:r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 sell the expensive upside to pay for the downside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rich call funds the put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548640" y="5029200"/>
            <a:ext cx="11094415" cy="822960"/>
          </a:xfrm>
          <a:prstGeom prst="rect">
            <a:avLst/>
          </a:prstGeom>
          <a:solidFill>
            <a:srgbClr val="ECEFF2"/>
          </a:solidFill>
          <a:ln w="9525">
            <a:solidFill>
              <a:srgbClr val="CBD2D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13232" y="5175504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6E7E8C"/>
          </a:solidFill>
          <a:ln w="12700">
            <a:solidFill>
              <a:srgbClr val="6E7E8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51755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</a:t>
            </a:r>
            <a:endParaRPr lang="en-US" sz="800" dirty="0"/>
          </a:p>
        </p:txBody>
      </p:sp>
      <p:sp>
        <p:nvSpPr>
          <p:cNvPr id="11" name="Text 8"/>
          <p:cNvSpPr txBox="1"/>
          <p:nvPr/>
        </p:nvSpPr>
        <p:spPr>
          <a:xfrm>
            <a:off x="1490472" y="5120640"/>
            <a:ext cx="9987991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companion deck,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Derivatives Structuring Methodology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turns this into explicit market-data rules: thresholds for IV percentile, IV vs realised, earnings implied/realised, skew and term structure.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 5: Which product? The single-name menu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A3E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from the simplest product, the stock itself, and only move away when you can name the specific improvement a more complex product adds.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MENU · DIRECT &amp; DIRECTIONAL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Owning the exposure, or buying optionality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180015" y="749808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6E7E8C"/>
          </a:solidFill>
          <a:ln w="12700">
            <a:solidFill>
              <a:srgbClr val="6E7E8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80015" y="7498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PARTICIPATION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206240"/>
                <a:gridCol w="3017520"/>
                <a:gridCol w="19504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it when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Think twice when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terms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Cash equity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Long-term thesis,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 event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in window · vol fairly priced · thin options market · client values liquidity, dividends, tax lots · ticket too small for a note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already concentrated · binary event days away · stock has already run hard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2–5% per name; trim above ~8%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Sector / index ETF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Thesis is really about the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sector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high dispersion inside the sector · client already concentrated in one name there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Your edge is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idiosyncratic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to one company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Add an overwrite when sector vol is elevated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Long call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Strong,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open-ended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view · vol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catalyst inside tenor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Vol rich · move may come after expiry · you have a target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1–6m, ATM to slightly OTM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Call spread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 have a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target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dated event, want known max loss · stock near highs · vol rich (short leg recovers cost)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Upside genuinely open-ended · client already owns a lot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Earnings: 4–6w, expiry ≥1–2w after print; long ~ATM, short ~+10–15%; ~2–3% cost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Risk reversal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Strongly bullish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and happy to own lower · steep put skew funds more upside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can't or won't be assigned stock in a sell-off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Often zero cost; 3–6m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Participation / booster note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Want leveraged-but-capped upside in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packaged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form · horizon ≥12m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View is short-dated · can't take issuer credit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e.g. 150% participation to a cap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Leveraged certificate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Short-term, strong, actively monitored view; aggressive client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Anything buy-and-hold; income or preservation clients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Knock-out level; monitor daily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MENU · INCOME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Selling optionality: paid to accept a risk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180015" y="749808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9A7B4F"/>
          </a:solidFill>
          <a:ln w="1270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80015" y="7498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INCOME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468880"/>
                <a:gridCol w="2834640"/>
                <a:gridCol w="2377440"/>
                <a:gridCol w="16760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Payoff in plain words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it when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Think twice when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terms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Covered call (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overlay only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Collect premium; give up upside above the strike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owns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a stock they wouldn't buy more of here · sideways view · vol elevated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Expect a big rally · low-basis stock where call-away triggers tax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1–3m, ~5% OTM, rolled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Cash-secured put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Collect premium; buy at strike if it falls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"I'd buy this lower" · just sold off, vol elevated · idle cash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wouldn't be happy owning at the strike · vol cheap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~3m, 15–25 delta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Reverse convertible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High fixed coupon; may repay in shares. Bond + sold put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Same as a put sale, in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form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would hate ending up with the stock · already a large position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3–12m; strike at a level they'd own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Autocall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High coupon while above barrier; early redemption if at/above start; capital at risk below barrier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Flat to modestly up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vol rich · stock already sold off so barrier is well below defended level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Expect a big rally · already concentrated · gap risk (fraud, trial, regulation)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12–24m, 70–80% barrier, quarterly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Phoenix (memory)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autocall; missed coupons paid later if it recovers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Range view; client values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coupon resilience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through dips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autocall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Coupon barrier ≈ capital barrier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Worst-of basket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Payoff follows the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worst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name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would happily own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every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name · wants a higher coupon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Any name the client wouldn't want delivered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Only include names you'd own alone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MENU · PROTECTION &amp; REPAIR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94484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Protecting winners, repairing losers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10180015" y="749808"/>
            <a:ext cx="1463040" cy="256032"/>
          </a:xfrm>
          <a:prstGeom prst="roundRect">
            <a:avLst>
              <a:gd name="adj" fmla="val 17857"/>
            </a:avLst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80015" y="7498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PROTECTION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4206240"/>
                <a:gridCol w="2926080"/>
                <a:gridCol w="16760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it when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Think twice when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terms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Protective put (overlay)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Protecting a winner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through a specific event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vol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cheap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client refuses to cap upside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Vol rich (collar better) · protection needed for years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Put spread variant: cushions a correction more cheaply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Zero-cost collar (overlay)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Concentrated, low-basis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winner the client won't sell · vol rich · near-term need for certainty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strongly bullish · position small (just trim)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6–12m; put 85–90%; call sets zero cost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Prepaid variable forward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Concentrated low-basis holder needs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liquidity and protection now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sale deferred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Small size; no tax adviser involved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Large sizes; OTC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Staged trim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Concentration must come down; derivatives unavailable/unwanted; spread the tax bill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Monthly/quarterly or across tax years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Buffered note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Re-entry after a loss harvest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nervous client wants upside · late in a rally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thinks it's a guarantee: below the barrier the loss runs from par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12–18m, 70% barrier, 100% participation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Capital-protected note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can't accept capital loss</a:t>
                      </a:r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but wants some upside · rates high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Rates very low · may need money before maturity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100% floor; capped or &lt;100% participation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Tax-loss harvest + re-entry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Meaningful loss, gains to offset, still wants exposure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Wash-sale rules (31 days in US; differs by country)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Re-enter via peer, ETF, or buffered note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Borrow against the book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Near-term liability; selling would be tax-inefficient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Concentrated, volatile collateral (margin-call risk)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Securities-backed line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MENU · SUBSTITUTION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the client can't use the best product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nearest allowed product </a:t>
            </a:r>
            <a:pPr indent="0" marL="0"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keeps the purpose of the trade</a:t>
            </a:r>
            <a:pPr indent="0" marL="0"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and state what is lost. "Not available in a sensible form" is a legitimate answer.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560320"/>
                <a:gridCol w="40233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Ideal (professional / OTC)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Purpose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Nearest packaged or cash alternative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you give up</a:t>
                      </a:r>
                      <a:endParaRPr lang="en-US" sz="12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Call spread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Defined-risk upside to a target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Capped participation note, or a small stock position sized to the premium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Short tenor, precise event timing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Covered call on a holding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Income from a flat winner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Staged trim; for </a:t>
                      </a:r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new</a:t>
                      </a:r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money, a reverse convertible or autocall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overlay itself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Cash-secured put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Paid to buy lower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Reverse convertible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Flexibility on strike and tenor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Collar on a concentrated winner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Protect without selling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Staged trim + buffered or capital-protected note on the proceeds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Tax deferral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Protective put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Floor through an event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Trim before the event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Keeping full exposure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Index put spread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Cheap portfolio protection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Rebalance, raise cash, add genuine diversifiers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Convexity</a:t>
                      </a:r>
                      <a:endParaRPr lang="en-US" sz="13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PUTTING IT TOGETHER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single-name decision walk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490472"/>
            <a:ext cx="457200" cy="457200"/>
          </a:xfrm>
          <a:prstGeom prst="ellipse">
            <a:avLst/>
          </a:prstGeom>
          <a:solidFill>
            <a:srgbClr val="29211A"/>
          </a:solidFill>
          <a:ln w="12700">
            <a:solidFill>
              <a:srgbClr val="2921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141732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View.</a:t>
            </a:r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Direction · target · catalyst date · path · conviction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2157984"/>
            <a:ext cx="457200" cy="457200"/>
          </a:xfrm>
          <a:prstGeom prst="ellipse">
            <a:avLst/>
          </a:prstGeom>
          <a:solidFill>
            <a:srgbClr val="29211A"/>
          </a:solidFill>
          <a:ln w="12700">
            <a:solidFill>
              <a:srgbClr val="29211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1579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43000" y="208483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Suitability.</a:t>
            </a:r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What can they hold? Objective? Will they need the money within the tenor? → if yes, stock or nothing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rgbClr val="8C3F3F"/>
          </a:solidFill>
          <a:ln w="12700">
            <a:solidFill>
              <a:srgbClr val="8C3F3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7523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Holdings.</a:t>
            </a:r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Concentrated → </a:t>
            </a:r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adding</a:t>
            </a:r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protect/reduce · Loss → </a:t>
            </a:r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harvest first</a:t>
            </a:r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Big gain → overwrite/trim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493008"/>
            <a:ext cx="457200" cy="457200"/>
          </a:xfrm>
          <a:prstGeom prst="ellipse">
            <a:avLst/>
          </a:prstGeom>
          <a:solidFill>
            <a:srgbClr val="29211A"/>
          </a:solidFill>
          <a:ln w="12700">
            <a:solidFill>
              <a:srgbClr val="2921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34930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" y="341985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Vol.</a:t>
            </a:r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Rich, fair or cheap vs realised, history, past earnings moves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160520"/>
            <a:ext cx="457200" cy="457200"/>
          </a:xfrm>
          <a:prstGeom prst="ellipse">
            <a:avLst/>
          </a:prstGeom>
          <a:solidFill>
            <a:srgbClr val="29211A"/>
          </a:solidFill>
          <a:ln w="12700">
            <a:solidFill>
              <a:srgbClr val="29211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408736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Match.</a:t>
            </a:r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View shape × vol × objective → the menu (right)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48640" y="4828032"/>
            <a:ext cx="457200" cy="457200"/>
          </a:xfrm>
          <a:prstGeom prst="ellipse">
            <a:avLst/>
          </a:prstGeom>
          <a:solidFill>
            <a:srgbClr val="29211A"/>
          </a:solidFill>
          <a:ln w="12700">
            <a:solidFill>
              <a:srgbClr val="29211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4828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4754880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Check.</a:t>
            </a:r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Fallback + "why not the obvious alternative"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5495544"/>
            <a:ext cx="457200" cy="457200"/>
          </a:xfrm>
          <a:prstGeom prst="ellipse">
            <a:avLst/>
          </a:prstGeom>
          <a:solidFill>
            <a:srgbClr val="29211A"/>
          </a:solidFill>
          <a:ln w="12700">
            <a:solidFill>
              <a:srgbClr val="29211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5495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F8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143000" y="5422392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Terms.</a:t>
            </a:r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Tenor from catalyst · strikes from target · barrier where you'd own it · size within limits</a:t>
            </a:r>
            <a:endParaRPr lang="en-US" sz="1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417320"/>
          <a:ext cx="505937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4076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View shape × vol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First product to consider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Strong up, no event, fair vol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Stock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Strong up, cheap vol, catalyst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Long call / call spread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Up to a target / event in window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Call spread (expiry after the event)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Flat-to-up, rich vol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Autocall / Phoenix (new) · covered call (held)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Would own lower, rich vol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Put sale · reverse convertible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Nervous re-entry / wants cushion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Buffered note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Can't lose capital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Capital-protected note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Fade an overdone rally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 call spread / overwrite; never a naked short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Sector-level thesis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ETF (+ overwrite), not a single name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PUTTING IT TOGETHER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view × volatility matrix (new-money trades)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926080" y="1417320"/>
            <a:ext cx="2905658" cy="411480"/>
          </a:xfrm>
          <a:prstGeom prst="rect">
            <a:avLst/>
          </a:prstGeom>
          <a:solidFill>
            <a:srgbClr val="29211A"/>
          </a:solidFill>
          <a:ln w="12700">
            <a:solidFill>
              <a:srgbClr val="29211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417320"/>
            <a:ext cx="290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CHEAP VOL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831738" y="1417320"/>
            <a:ext cx="2905658" cy="411480"/>
          </a:xfrm>
          <a:prstGeom prst="rect">
            <a:avLst/>
          </a:prstGeom>
          <a:solidFill>
            <a:srgbClr val="29211A"/>
          </a:solidFill>
          <a:ln w="12700">
            <a:solidFill>
              <a:srgbClr val="29211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831738" y="1417320"/>
            <a:ext cx="290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FAIR VOL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8737397" y="1417320"/>
            <a:ext cx="2905658" cy="411480"/>
          </a:xfrm>
          <a:prstGeom prst="rect">
            <a:avLst/>
          </a:prstGeom>
          <a:solidFill>
            <a:srgbClr val="29211A"/>
          </a:solidFill>
          <a:ln w="12700">
            <a:solidFill>
              <a:srgbClr val="29211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37397" y="1417320"/>
            <a:ext cx="29056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20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VOL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1828800"/>
            <a:ext cx="2377440" cy="676656"/>
          </a:xfrm>
          <a:prstGeom prst="rect">
            <a:avLst/>
          </a:prstGeom>
          <a:solidFill>
            <a:srgbClr val="E7D9C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1828800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Strong up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926080" y="1828800"/>
            <a:ext cx="2905658" cy="676656"/>
          </a:xfrm>
          <a:prstGeom prst="rect">
            <a:avLst/>
          </a:prstGeom>
          <a:solidFill>
            <a:srgbClr val="ECEFF2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35808" y="182880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call / call spread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831738" y="1828800"/>
            <a:ext cx="2905658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1466" y="182880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Stock, or call spread if event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737397" y="1828800"/>
            <a:ext cx="2905658" cy="676656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847125" y="182880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spread (sell rich upper strike) or risk reversal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2505456"/>
            <a:ext cx="2377440" cy="676656"/>
          </a:xfrm>
          <a:prstGeom prst="rect">
            <a:avLst/>
          </a:prstGeom>
          <a:solidFill>
            <a:srgbClr val="E7D9C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2505456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 to a target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926080" y="2505456"/>
            <a:ext cx="2905658" cy="676656"/>
          </a:xfrm>
          <a:prstGeom prst="rect">
            <a:avLst/>
          </a:prstGeom>
          <a:solidFill>
            <a:srgbClr val="ECEFF2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035808" y="2505456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spread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831738" y="2505456"/>
            <a:ext cx="2905658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941466" y="2505456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spread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737397" y="2505456"/>
            <a:ext cx="2905658" cy="676656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47125" y="2505456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spread (better value)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8640" y="3182112"/>
            <a:ext cx="2377440" cy="676656"/>
          </a:xfrm>
          <a:prstGeom prst="rect">
            <a:avLst/>
          </a:prstGeom>
          <a:solidFill>
            <a:srgbClr val="E7D9C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58368" y="3182112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Flat to modestly up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926080" y="3182112"/>
            <a:ext cx="2905658" cy="676656"/>
          </a:xfrm>
          <a:prstGeom prst="rect">
            <a:avLst/>
          </a:prstGeom>
          <a:solidFill>
            <a:srgbClr val="ECEFF2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3035808" y="3182112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Stock. Don't sell cheap insurance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831738" y="3182112"/>
            <a:ext cx="2905658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941466" y="3182112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Autocall / Phoenix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737397" y="3182112"/>
            <a:ext cx="2905658" cy="676656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847125" y="3182112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Autocall / Phoenix / covered call: </a:t>
            </a:r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value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548640" y="3858768"/>
            <a:ext cx="2377440" cy="676656"/>
          </a:xfrm>
          <a:prstGeom prst="rect">
            <a:avLst/>
          </a:prstGeom>
          <a:solidFill>
            <a:srgbClr val="E7D9C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58368" y="3858768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Would own it lower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2926080" y="3858768"/>
            <a:ext cx="2905658" cy="676656"/>
          </a:xfrm>
          <a:prstGeom prst="rect">
            <a:avLst/>
          </a:prstGeom>
          <a:solidFill>
            <a:srgbClr val="ECEFF2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035808" y="3858768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Wait, or small position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831738" y="3858768"/>
            <a:ext cx="2905658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941466" y="3858768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sale / reverse convertible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737397" y="3858768"/>
            <a:ext cx="2905658" cy="676656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847125" y="3858768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sale / reverse convertible: </a:t>
            </a:r>
            <a:pPr indent="0" marL="0"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paid well to wait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548640" y="4535424"/>
            <a:ext cx="2377440" cy="676656"/>
          </a:xfrm>
          <a:prstGeom prst="rect">
            <a:avLst/>
          </a:prstGeom>
          <a:solidFill>
            <a:srgbClr val="E7D9C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58368" y="4535424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Protect a holding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926080" y="4535424"/>
            <a:ext cx="2905658" cy="676656"/>
          </a:xfrm>
          <a:prstGeom prst="rect">
            <a:avLst/>
          </a:prstGeom>
          <a:solidFill>
            <a:srgbClr val="ECEFF2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3035808" y="4535424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Protective put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831738" y="4535424"/>
            <a:ext cx="2905658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5941466" y="4535424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Collar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8737397" y="4535424"/>
            <a:ext cx="2905658" cy="676656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847125" y="4535424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Collar (the call funds the put)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48640" y="5212080"/>
            <a:ext cx="2377440" cy="676656"/>
          </a:xfrm>
          <a:prstGeom prst="rect">
            <a:avLst/>
          </a:prstGeom>
          <a:solidFill>
            <a:srgbClr val="E7D9C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58368" y="5212080"/>
            <a:ext cx="2157984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Overdone rally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2926080" y="5212080"/>
            <a:ext cx="2905658" cy="676656"/>
          </a:xfrm>
          <a:prstGeom prst="rect">
            <a:avLst/>
          </a:prstGeom>
          <a:solidFill>
            <a:srgbClr val="ECEFF2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3035808" y="521208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spread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831738" y="5212080"/>
            <a:ext cx="2905658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41466" y="521208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call spread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8737397" y="5212080"/>
            <a:ext cx="2905658" cy="676656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847125" y="5212080"/>
            <a:ext cx="2686202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call spread / overwrite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548640" y="59893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across a row: </a:t>
            </a:r>
            <a:pPr indent="0" marL="0">
              <a:buNone/>
            </a:pPr>
            <a:r>
              <a:rPr lang="en-US" sz="1200" b="1" i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volatility gets richer, move from buying optionality to selling it.</a:t>
            </a:r>
            <a:pPr indent="0" marL="0">
              <a:buNone/>
            </a:pPr>
            <a:r>
              <a:rPr lang="en-US" sz="1200" i="1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Cheap-vol column = buyer's market; rich-vol column = seller's market.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earnings playbook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Earnings concentrate a lot of risk into one night, so they get their own rules.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9441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457200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Situation</a:t>
                      </a:r>
                      <a:endParaRPr lang="en-US" sz="12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Reasoning</a:t>
                      </a:r>
                      <a:endParaRPr lang="en-US" sz="12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Implementation</a:t>
                      </a:r>
                      <a:endParaRPr lang="en-US" sz="12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Before results · constructive · client doesn't own it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 believe the business, not necessarily the reaction. Pay a known premium rather than risk a gap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4–6 week call spread</a:t>
                      </a:r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expiring after the print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Before results · client owns a lot · options price a big move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market is overpaying for event insurance. The owner can 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</a:t>
                      </a:r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it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Covered call or collar </a:t>
                      </a:r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through</a:t>
                      </a:r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the print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Just reported · great numbers · stock fell anyway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Reaction was valuation/positioning, not the business. Opportunity, but the nervous tape is still there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Stock + collar, or call spread; staged entry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Just reported · collapsing on a one-off fact (e.g. one-customer disclosure)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Don't catch the knife. Get paid for offering to buy lower while vol is high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 puts / reverse convertible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Just reported · jumped on low-quality EPS (one-off gain)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 partly unjustified, but the underlying may be improving. Don't short outright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 a call spread, or overwrite the holding</a:t>
                      </a:r>
                      <a:endParaRPr lang="en-US" sz="14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 A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idea, four clients, four right answers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idea:</a:t>
            </a:r>
            <a:pPr indent="0" marL="0"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chip designer reports in 5 weeks; demand intact but the tape sold two excellent results this month; stock ~8% off its high vs sector ~20% off. Natural implementation: </a:t>
            </a:r>
            <a:pPr indent="0" marL="0"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spread after the print.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9456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3291840"/>
                <a:gridCol w="3504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Owns it?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Reasoning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Implementation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Professional, aggressive growth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Everything lines up: growth, derivatives allowed, new money, event in window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4–6w call spread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long ~ATM, short ~+15%. </a:t>
                      </a:r>
                      <a:pPr indent="0" marL="0">
                        <a:buNone/>
                      </a:pPr>
                      <a:r>
                        <a:rPr lang="en-US" sz="1270" i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Why not stock: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a bad reaction could gap it 10% with the thesis still right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Professional, aggressive growth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24% of book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big gain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Bullish view, but already dangerously concentrated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 new exposure.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Zero-cost collar or covered call through the print. </a:t>
                      </a:r>
                      <a:pPr indent="0" marL="0">
                        <a:buNone/>
                      </a:pPr>
                      <a:r>
                        <a:rPr lang="en-US" sz="1270" i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Why not the call spread: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adds risk they have too much of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Retail, growth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22% of book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+279%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Same concentration problem; OTC not allowed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Staged trim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+ buffered note / diversified equity. Raise reclassification if a collar is wanted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Retail, income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single-stock earnings bet doesn't fit an income goal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or a 12–18m autocall on the name/sector after the event while vol is still elevated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EXAMPLES B &amp; C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dislocated quality stock, and the fade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86400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94944" y="1545336"/>
            <a:ext cx="768096" cy="256032"/>
          </a:xfrm>
          <a:prstGeom prst="roundRect">
            <a:avLst>
              <a:gd name="adj" fmla="val 17857"/>
            </a:avLst>
          </a:prstGeom>
          <a:solidFill>
            <a:srgbClr val="9A7B4F"/>
          </a:solidFill>
          <a:ln w="12700">
            <a:solidFill>
              <a:srgbClr val="9A7B4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94944" y="1545336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SELL VOL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694944" y="1874520"/>
            <a:ext cx="5193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· Memory maker 25% off its high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94944" y="2276856"/>
            <a:ext cx="5193792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recovers, timing unknown, happy to own here or lower. Vol elevated after the fall →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optionality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Income client, doesn't own it: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12m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Phoenix autocall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~70% barrier; coupon funded by rich vol.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growth, doesn't own it: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stock + covered call, or a 3m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sale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~15% lower.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with a 26% position at 4x: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none of the above. A note on the same stock is more of the same risk.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Reduce or protect first.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Client down 20% from a higher entry: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harvest, then re-enter via a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buffered note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09360" y="1417320"/>
            <a:ext cx="5333695" cy="475488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55664" y="1545336"/>
            <a:ext cx="640080" cy="256032"/>
          </a:xfrm>
          <a:prstGeom prst="roundRect">
            <a:avLst>
              <a:gd name="adj" fmla="val 17857"/>
            </a:avLst>
          </a:prstGeom>
          <a:solidFill>
            <a:srgbClr val="6E7E8C"/>
          </a:solidFill>
          <a:ln w="12700">
            <a:solidFill>
              <a:srgbClr val="6E7E8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55664" y="15453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FADE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6455664" y="1874520"/>
            <a:ext cx="504108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 · Retailer pops on one-off earnings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55664" y="2276856"/>
            <a:ext cx="5041087" cy="380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Setup: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+4% on results, but ~40% of EPS from a one-off refund; underlying sales genuinely good; overbought near the 52-week high.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modest pullback, not a collapse. </a:t>
            </a:r>
            <a:pPr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short outright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the business is improving.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overwrite with 2–3m calls just above spot.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non-owners: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sell a call spread (defined risk).</a:t>
            </a:r>
            <a:endParaRPr lang="en-US" sz="135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 non-owners: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nothing. No clean implementation exists, and that is acceptable.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0972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9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560320"/>
            <a:ext cx="1072865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Bonds: how the thinking changes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114800"/>
            <a:ext cx="105457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i="1" dirty="0">
                <a:solidFill>
                  <a:srgbClr val="5A3E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Same five questions, different answers. Bonds usually implement a need, and the market's price is the curve and the spread rather than volatility.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BONDS · THE VIEW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Bonds implement a need; a view adjusts it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Equity work usually starts from "we like this stock." Bond work usually starts from "$2m a year of income," "a tax bill in 18 months," or "15% in cash earning nothing."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8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0312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206240"/>
                <a:gridCol w="4144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Dimension of a bond view</a:t>
                      </a:r>
                      <a:endParaRPr lang="en-US" sz="11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question</a:t>
                      </a:r>
                      <a:endParaRPr lang="en-US" sz="11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Example</a:t>
                      </a:r>
                      <a:endParaRPr lang="en-US" sz="11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Level of rates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Will yields rise or fall?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"The central bank will cut, so yields fall"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Curve shape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Will long yields move more or less than short ones?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"Front end anchored, long end keeps selling off" (bear steepener)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Rate volatility / range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Will rates stay in a range or break out?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"The 10-year stays 4.25–5.00% for a year"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Credit spread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Will borrowers pay more or less over governments?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"Spreads are tight; little reward for credit risk"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Specific issuer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Is this company's debt mispriced?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"Its bonds price a downgrade that won't happen"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Inflation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Above or below what's priced?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"Breakevens are too low"</a:t>
                      </a:r>
                      <a:endParaRPr lang="en-US" sz="13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5532120"/>
            <a:ext cx="11094415" cy="64008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13232" y="5678424"/>
            <a:ext cx="845820" cy="256032"/>
          </a:xfrm>
          <a:prstGeom prst="roundRect">
            <a:avLst>
              <a:gd name="adj" fmla="val 17857"/>
            </a:avLst>
          </a:prstGeom>
          <a:solidFill>
            <a:srgbClr val="9A7B4F"/>
          </a:solidFill>
          <a:ln w="12700">
            <a:solidFill>
              <a:srgbClr val="9A7B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5678424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</a:t>
            </a:r>
            <a:endParaRPr lang="en-US" sz="800" dirty="0"/>
          </a:p>
        </p:txBody>
      </p:sp>
      <p:sp>
        <p:nvSpPr>
          <p:cNvPr id="12" name="Text 9"/>
          <p:cNvSpPr txBox="1"/>
          <p:nvPr/>
        </p:nvSpPr>
        <p:spPr>
          <a:xfrm>
            <a:off x="1696212" y="5623560"/>
            <a:ext cx="97822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are paid: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yield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(carry) ·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roll-down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(yield falling as a bond ages along an upward curve) · </a:t>
            </a:r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spread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(extra yield for credit risk).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BONDS · CLIENT &amp; HOLDINGS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client and the book, bond edition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8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factor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 matters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Income need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How much cash flow, how regularly → coupon level and structure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Liabilities &amp; dates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Match outflows with bonds maturing just before them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Role of bonds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Ballast</a:t>
                      </a:r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→ quality government duration ·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Income</a:t>
                      </a:r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→ mix incl. credit ·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Cash replacement</a:t>
                      </a:r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→ short, safe paper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Reinvestment risk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Cash earns less once rates fall; extending locks today's yields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Tax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Tax-exempt munis for high brackets; harvest losses on low-coupon bonds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417320"/>
          <a:ext cx="54251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322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they hold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Implementation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Too much cash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Bill ladder → short bonds → extend where the curve pays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Legacy low-coupon bonds at a loss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Bond swap:</a:t>
                      </a:r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sell, realise the tax loss, buy similar-quality current-coupon bonds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Long-duration bond, deep loss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Swap into shorter or laddered maturities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All government, no credit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Step into quality corporates/securitised if spreads compensate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Heavy credit, little government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Add government duration (credit falls with equities)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Bonds maturing into a liability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Leave it.</a:t>
                      </a:r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Don't trade a matched position for a view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 MENU · FRONT END &amp; CORE DURATION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Cash, the front end, and core duration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it when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2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Think twice when</a:t>
                      </a:r>
                      <a:endParaRPr lang="en-US" sz="11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T-bills / bill ladder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Parking cash safely · liabilities within a year ·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inverted curve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(paid to stay short)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Cuts are coming: income drops as bills roll lower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Short-duration bonds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Reduce cash drag with minimal rate risk; lock yield a little longer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 want real ballast (too little duration)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Floating-rate notes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Expect rates to stay high or rise; want income that moves with them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Cuts are coming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Government bonds (chosen maturity)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Need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ballast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expect yields to fall · lock a yield for a horizon. Go where the curve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pays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(roll-down) and where your view is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Long end if your view is it keeps selling off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Bond ladder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Predictable cash flow ·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 strong rates view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· reinvesting after a swap. Neither rates up nor down is a disaster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You have a strong curve view to express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Bond funds / ETFs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Small tickets · wide issuer diversification · daily liquidity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needs a </a:t>
                      </a:r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guaranteed amount on a date</a:t>
                      </a:r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(funds have no maturity)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Inflation-linked bonds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Inflation will exceed the breakeven · real (inflation-linked) liabilities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7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Breakevens already high</a:t>
                      </a:r>
                      <a:endParaRPr lang="en-US" sz="127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BOND MENU · CREDIT, STRUCTURED RATES, HYBRIDS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Credit, structured rate notes and hybrids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8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Product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Consider it when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Think twice when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 corporates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Income clients stepping out of governments; spreads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wide enough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Spreads historically tight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High yield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Growth-tolerant income; spreads wide; supportive cycle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Preservation clients · late cycle · it's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 ballast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Securitised (MBS/ABS)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Diversifying income beyond govts and corporates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doesn't understand prepayment/extension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 bonds (US)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High-bracket US taxable clients; compare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after-tax</a:t>
                      </a:r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yield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Low tax bracket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Credit-linked note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specific credit view in note form; enhanced coupon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Client doesn't grasp the double credit risk (name + issuer)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Range accrual note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View: rates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stay in a range</a:t>
                      </a:r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; income above a plain bond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Breakout plausible: coupon can go to zero while locked up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Callable bond / note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Rates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won't fall much</a:t>
                      </a:r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 keep the higher coupon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Big cuts expected: called just when you want to keep it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Curve (steepener/CMS) notes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Strong curve-shape view; specialist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Most private clients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Convertible bonds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Equity upside with a bond floor; cautious fans of a company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Pure income need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Rate futures / swaps / swaptions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Professional duration hedging or tactical views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Default for private clients is </a:t>
                      </a:r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cash bonds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PUTTING IT TOGETHER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bond decision walk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463040"/>
            <a:ext cx="2014057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6656" y="15727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676656" y="20116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Need first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6656" y="2743200"/>
            <a:ext cx="175802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Liabilities? Match them with bills/bonds maturing just before each date. </a:t>
            </a:r>
            <a:pPr indent="0" marL="0">
              <a:buNone/>
            </a:pPr>
            <a:r>
              <a:rPr lang="en-US" sz="11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Done for that slice.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544409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2818729" y="1463040"/>
            <a:ext cx="2014057" cy="301752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6745" y="15727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2946745" y="20116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Role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2946745" y="2743200"/>
            <a:ext cx="175802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Ballast</a:t>
            </a:r>
            <a:pPr indent="0" marL="0">
              <a:buNone/>
            </a:pPr>
            <a:r>
              <a:rPr lang="en-US" sz="115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govt duration · </a:t>
            </a:r>
            <a:pPr indent="0" marL="0">
              <a:buNone/>
            </a:pPr>
            <a:r>
              <a:rPr lang="en-US" sz="11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Income</a:t>
            </a:r>
            <a:pPr indent="0" marL="0">
              <a:buNone/>
            </a:pPr>
            <a:r>
              <a:rPr lang="en-US" sz="115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ladder, IG, munis, securitised · </a:t>
            </a:r>
            <a:pPr indent="0" marL="0">
              <a:buNone/>
            </a:pPr>
            <a:r>
              <a:rPr lang="en-US" sz="11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</a:t>
            </a:r>
            <a:pPr indent="0" marL="0">
              <a:buNone/>
            </a:pPr>
            <a:r>
              <a:rPr lang="en-US" sz="115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→ bills, short, floaters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4814499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5088819" y="1463040"/>
            <a:ext cx="2014057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216835" y="15727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5216835" y="20116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 holdings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5216835" y="2743200"/>
            <a:ext cx="175802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Idle cash → deploy · low-coupon losers → </a:t>
            </a:r>
            <a:pPr indent="0" marL="0">
              <a:buNone/>
            </a:pPr>
            <a:r>
              <a:rPr lang="en-US" sz="11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bond swap</a:t>
            </a:r>
            <a:pPr indent="0" marL="0">
              <a:buNone/>
            </a:pPr>
            <a:r>
              <a:rPr lang="en-US" sz="115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credit-only → add govt ballast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084588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22" name="Shape 20"/>
          <p:cNvSpPr/>
          <p:nvPr/>
        </p:nvSpPr>
        <p:spPr>
          <a:xfrm>
            <a:off x="7358908" y="1463040"/>
            <a:ext cx="2014057" cy="3017520"/>
          </a:xfrm>
          <a:prstGeom prst="rect">
            <a:avLst/>
          </a:prstGeom>
          <a:solidFill>
            <a:srgbClr val="F4ECE0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86924" y="15727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7486924" y="20116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the view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486924" y="2743200"/>
            <a:ext cx="175802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Falling → extend where curve pays · Sticky → short/floaters · Range → range accrual/callable · None → ladder · Spreads tight → up in quality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9354678" y="2697480"/>
            <a:ext cx="2926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›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9628998" y="1463040"/>
            <a:ext cx="2014057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757014" y="1572768"/>
            <a:ext cx="175802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9A7B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9757014" y="2011680"/>
            <a:ext cx="175802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Wrapper &amp; terms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9757014" y="2743200"/>
            <a:ext cx="175802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Known amount on a date → </a:t>
            </a:r>
            <a:pPr indent="0" marL="0">
              <a:buNone/>
            </a:pPr>
            <a:r>
              <a:rPr lang="en-US" sz="115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bonds</a:t>
            </a:r>
            <a:pPr indent="0" marL="0">
              <a:buNone/>
            </a:pPr>
            <a:r>
              <a:rPr lang="en-US" sz="1150" dirty="0">
                <a:solidFill>
                  <a:srgbClr val="5A3E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· small → fund · rate-shape view → note · hedging → futures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800600"/>
            <a:ext cx="11094415" cy="1005840"/>
          </a:xfrm>
          <a:prstGeom prst="rect">
            <a:avLst/>
          </a:prstGeom>
          <a:solidFill>
            <a:srgbClr val="EDF2ED"/>
          </a:solidFill>
          <a:ln w="9525">
            <a:solidFill>
              <a:srgbClr val="C9D8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3232" y="4946904"/>
            <a:ext cx="768096" cy="256032"/>
          </a:xfrm>
          <a:prstGeom prst="roundRect">
            <a:avLst>
              <a:gd name="adj" fmla="val 17857"/>
            </a:avLst>
          </a:prstGeom>
          <a:solidFill>
            <a:srgbClr val="3F6B4E"/>
          </a:solidFill>
          <a:ln w="12700">
            <a:solidFill>
              <a:srgbClr val="3F6B4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13232" y="4946904"/>
            <a:ext cx="768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50" kern="0" dirty="0">
                <a:solidFill>
                  <a:srgbClr val="FBF8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TEST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1618488" y="4892040"/>
            <a:ext cx="9859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any structured rate note, compare it with the plain bond of the same maturity.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What does the note pay extra, and what does the client give up to get it: upside if rates fall, coupon on out-of-range days, liquidity, issuer credit? If you can't answer both clearly, use the plain bond.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EXAMPLES D–G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bond situations, reasoned through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48640" y="1417320"/>
            <a:ext cx="541004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94944" y="1545336"/>
            <a:ext cx="511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 · Cash-heavy income client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1947672"/>
            <a:ext cx="511744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12% cash, no liabilities for 5 years, cuts expected, curve pays more in 3–7y.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2–3% in bills; ladder the rest 1–7y, tilted to 3–5y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govt + IG (munis if after-tax yield wins). 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a fund: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certain cash flows. 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all 10y: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too much rate risk for little extra.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3008" y="1417320"/>
            <a:ext cx="541004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79312" y="1545336"/>
            <a:ext cx="511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· Legacy 1.25% bond, −15%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379312" y="1947672"/>
            <a:ext cx="511744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Loss is rates, not credit. Holding it = choosing 1.25% when new bonds pay ~4%+.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Bond swap: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sell, harvest the loss, buy similar maturity/quality at current coupon. Risk barely changes; income rises; tax asset banked. Check wash-sale rules.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977640"/>
            <a:ext cx="541004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" y="4105656"/>
            <a:ext cx="511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 · The range view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94944" y="4507992"/>
            <a:ext cx="511744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Short rates anchored; long yields keep hitting a ceiling; 10y traded 4.25–5.00% for months at ~4.6%. A plain bond pays if yields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fall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 the view is they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stay put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so monetise low rate vol: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12m range accrual on the 10y, band 4.25–5.00%.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Gives up: coupon out of range, 12m lock-up, issuer credit.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33008" y="3977640"/>
            <a:ext cx="5410048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D8C9B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79312" y="4105656"/>
            <a:ext cx="511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 · The liability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379312" y="4507992"/>
            <a:ext cx="511744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$3m property purchase in 30 months. A need, not a view.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Individual government bonds/bills maturing just before the date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for the full amount plus a margin. </a:t>
            </a:r>
            <a:pPr indent="0" marL="0">
              <a:spcAft>
                <a:spcPts val="400"/>
              </a:spcAft>
              <a:buNone/>
            </a:pPr>
            <a:r>
              <a:rPr lang="en-US" sz="1300" i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a fund or a note: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the value on the date must be certain.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Principles and common mistakes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463040"/>
            <a:ext cx="4206240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 and client are separate.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Get the view right, then fit it.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view into parts.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Each maps to a product feature.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Holdings before views.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Concentration, losses, liabilities first.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who pays whom for optionality.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Buy cheap, sell rich.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simple.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Stock or plain bond is the benchmark.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note is credit and illiquidity.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Spread issuers; match tenor.</a:t>
            </a:r>
            <a:endParaRPr lang="en-US" sz="1300" dirty="0"/>
          </a:p>
          <a:p>
            <a:pPr marL="177800" indent="-177800">
              <a:spcAft>
                <a:spcPts val="900"/>
              </a:spcAft>
              <a:buSzPct val="100000"/>
              <a:buChar char="•"/>
            </a:pPr>
            <a:r>
              <a:rPr lang="en-US" sz="1300" b="1" dirty="0">
                <a:solidFill>
                  <a:srgbClr val="2921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State the fallback and the "why not."</a:t>
            </a:r>
            <a:endParaRPr lang="en-US" sz="13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13855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047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Mistake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7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Why it's wrong</a:t>
                      </a:r>
                      <a:endParaRPr lang="en-US" sz="107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Adding to a concentrated stock because "we're bullish"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Concentration dominates any single view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Covered call or collar for a non-holder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Overlays only exist on holdings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Selling options when vol is cheap "for income"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Paid too little for the risk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Buying calls into earnings that price a huge move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Must beat a large expected move to break even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worst-of name the client wouldn't own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worst performer is what they'll end up with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Calling a buffered note "protected"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Below the barrier, loss runs from par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bond fund for a dated liability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 maturity; value on the date unknown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Holding low coupons "until back to par"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That's choosing low income; swap instead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High yield as ballast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2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 falls with equities in a crisis</a:t>
                      </a:r>
                      <a:endParaRPr lang="en-US" sz="122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1109441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A7B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944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921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Glossary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225296"/>
            <a:ext cx="11094415" cy="0"/>
          </a:xfrm>
          <a:prstGeom prst="line">
            <a:avLst/>
          </a:prstGeom>
          <a:noFill/>
          <a:ln w="19050">
            <a:solidFill>
              <a:srgbClr val="9A7B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BOOK · METHODOLOGY REFERENCE — FROM IDEA TO IMPLEMENTATION</a:t>
            </a:r>
            <a:endParaRPr lang="en-US" sz="75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E5A4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</a:t>
            </a:r>
            <a:endParaRPr lang="en-US" sz="8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5410048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764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Autocall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 that redeems early if the underlying is at/above a set level on an observation date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Barrier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Level (e.g. 70%) that, if breached, exposes capital to loss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Bear steepener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Long yields rise faster than short yields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Carry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Income a position earns just by being held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Collar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Stock + bought put + sold call; value kept inside a band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Delta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Option value change per 1-unit stock move; loosely, direct exposure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Duration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bond's sensitivity to rate changes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vol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 move the options market expects: the price of optionality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Ladder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Bonds with staggered maturities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Memory coupon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Missed coupons paid later if conditions are met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33008" y="1417320"/>
          <a:ext cx="5410048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764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BF8F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Meaning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45720" marB="45720" anchor="ctr">
                    <a:lnL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921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9211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OTC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Bilateral contract with a bank, not exchange-traded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Overlay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Trade that reshapes an existing holding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Packaged product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security (ISIN) bundling derivatives inside a note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Realised vol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How much the stock has actually moved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Roll-down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Price gain as maturity shortens along an upward curve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Skew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Implied vol difference between downside and upside options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Spread (credit)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Extra yield a corporate bond pays over government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Tenor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Time until a product matures or expires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Wash-sale rule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Loss disallowed if a substantially identical security is rebought within a window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Worst-of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9211A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Basket payoff following the worst-performing name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73152" marR="73152" marT="45720" marB="45720" anchor="t">
                    <a:lnL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C9B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ECE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Idea to Implementation</dc:title>
  <dc:subject>PptxGenJS Presentation</dc:subject>
  <dc:creator>Open Book desk</dc:creator>
  <cp:lastModifiedBy>Open Book desk</cp:lastModifiedBy>
  <cp:revision>1</cp:revision>
  <dcterms:created xsi:type="dcterms:W3CDTF">2026-09-25T06:04:14Z</dcterms:created>
  <dcterms:modified xsi:type="dcterms:W3CDTF">2026-09-25T06:04:14Z</dcterms:modified>
</cp:coreProperties>
</file>