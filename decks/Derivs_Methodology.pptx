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107286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Derivs Methodology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reach for which structure, driven by market data: pullbacks, selling vol, buying vol, uncapped upside, hedging, and the structured-note shelf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6908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structure is a position in volatility and a choice between participation and income.</a:t>
            </a:r>
            <a:pPr indent="0" marL="0">
              <a:buNone/>
            </a:pPr>
            <a:r>
              <a:rPr lang="en-US" sz="1300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the market data first, decide whether to buy or sell optionality, then pick the payoff. The product name comes last.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257800"/>
            <a:ext cx="10728655" cy="0"/>
          </a:xfrm>
          <a:prstGeom prst="line">
            <a:avLst/>
          </a:prstGeom>
          <a:noFill/>
          <a:ln w="9525">
            <a:solidFill>
              <a:srgbClr val="3B433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3949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September 2026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3413684" y="53949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OTC options &amp; structured notes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095848" y="53949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OF SCOPE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suitability (see companion deck)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778011" y="53949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COMPANION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Idea to Implementation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METHOD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176272" y="452628"/>
            <a:ext cx="9466783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steps from market data to structure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assumes the client question is already answered. It covers only the market side: given the tape, </a:t>
            </a:r>
            <a:pPr indent="0" marL="0">
              <a:buNone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structure is the best value for the view?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635709" cy="246888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2231136"/>
            <a:ext cx="13431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651760"/>
            <a:ext cx="13431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tape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3383280"/>
            <a:ext cx="134310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level &amp; percentile, IV vs realised, skew, term structure, drawdown, trend, RSI, rates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166061" y="30632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440381" y="2103120"/>
            <a:ext cx="1635709" cy="2468880"/>
          </a:xfrm>
          <a:prstGeom prst="rect">
            <a:avLst/>
          </a:prstGeom>
          <a:solidFill>
            <a:srgbClr val="1C201A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86685" y="2231136"/>
            <a:ext cx="13431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586685" y="2651760"/>
            <a:ext cx="13431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 stance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586685" y="3383280"/>
            <a:ext cx="134310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</a:t>
            </a:r>
            <a:pPr indent="0" marL="0"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11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pPr indent="0" marL="0"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indent="0" marL="0">
              <a:buNone/>
            </a:pPr>
            <a:r>
              <a:rPr lang="en-US" sz="11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pPr indent="0" marL="0"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optionality, from the scoring rules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057802" y="30632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332122" y="2103120"/>
            <a:ext cx="1635709" cy="246888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78426" y="2231136"/>
            <a:ext cx="13431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478426" y="2651760"/>
            <a:ext cx="13431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Payoff objective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78426" y="3383280"/>
            <a:ext cx="134310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</a:t>
            </a:r>
            <a:pPr indent="0" marL="0"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(from the move), </a:t>
            </a:r>
            <a:pPr indent="0" marL="0">
              <a:buNone/>
            </a:pPr>
            <a:r>
              <a:rPr lang="en-US" sz="11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</a:t>
            </a:r>
            <a:pPr indent="0" marL="0"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(from time), or </a:t>
            </a:r>
            <a:pPr indent="0" marL="0">
              <a:buNone/>
            </a:pPr>
            <a:r>
              <a:rPr lang="en-US" sz="11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949544" y="30632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223864" y="2103120"/>
            <a:ext cx="1635709" cy="2468880"/>
          </a:xfrm>
          <a:prstGeom prst="rect">
            <a:avLst/>
          </a:prstGeom>
          <a:solidFill>
            <a:srgbClr val="1C201A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70168" y="2231136"/>
            <a:ext cx="13431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370168" y="2651760"/>
            <a:ext cx="13431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70168" y="3383280"/>
            <a:ext cx="134310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Skew, term structure, correlation, rates, dividends, issuer spread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841285" y="30632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8115605" y="2103120"/>
            <a:ext cx="1635709" cy="246888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61909" y="2231136"/>
            <a:ext cx="13431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61909" y="2651760"/>
            <a:ext cx="13431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Wrapper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261909" y="3383280"/>
            <a:ext cx="134310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OTC</a:t>
            </a:r>
            <a:pPr indent="0" marL="0"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(short tenor, bespoke, liquid) or </a:t>
            </a:r>
            <a:pPr indent="0" marL="0">
              <a:buNone/>
            </a:pPr>
            <a:r>
              <a:rPr lang="en-US" sz="11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pPr indent="0" marL="0"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(12m+, packaged, coupon)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733026" y="30632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0007346" y="2103120"/>
            <a:ext cx="1635709" cy="2468880"/>
          </a:xfrm>
          <a:prstGeom prst="rect">
            <a:avLst/>
          </a:prstGeom>
          <a:solidFill>
            <a:srgbClr val="1C201A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153650" y="2231136"/>
            <a:ext cx="13431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0153650" y="2651760"/>
            <a:ext cx="13431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153650" y="3383280"/>
            <a:ext cx="134310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Strikes from levels, tenor from catalyst, barrier below where you'd own it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8640" y="4846320"/>
            <a:ext cx="11094415" cy="109728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4846320"/>
            <a:ext cx="36576" cy="1097280"/>
          </a:xfrm>
          <a:prstGeom prst="rect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9808" y="4956048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ZERO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49808" y="5212080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view does not depend on volatility, don't pay for volatility you don't need; if the market is overpaying for insurance, be the seller.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rule in this deck is a more precise version of that sentence.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64008" cy="64008"/>
          </a:xfrm>
          <a:prstGeom prst="ellipse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" y="1188720"/>
            <a:ext cx="10552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024482" y="1312164"/>
            <a:ext cx="9435694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107286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tape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1480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inputs, how to measure them, and the starting thresholds that turn them into a stance.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 THE TAPE · INPUTS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849624" y="452628"/>
            <a:ext cx="7793431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market-data dashboard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480560"/>
                <a:gridCol w="38706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HOW TO MEASURE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WHAT IT DECIDES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Implied vol level &amp; percentile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30-day ATM IV; its percentile in the trailing 1-year range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 vs sell optionality: the price of insurance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Implied vs realised (VRP)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IV30 ÷ RV30 (or IV30 − RV20 in vol points)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Whether insurance is over- or under-priced </a:t>
                      </a:r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what the stock actually does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Earnings implied move ratio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Straddle-implied move ÷ average absolute move over the last 4 (and 8) prints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 or sell the </a:t>
                      </a:r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Skew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25Δ put IV − 25Δ call IV (or 90%–110% IV); its 1-year percentile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 puts / barriers when steep; buy puts outright when flat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 structure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1m ÷ IV 3m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</a:t>
                      </a:r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tenor</a:t>
                      </a:r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to buy or sell; event premium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Drawdown &amp; trend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off 52-week high · price vs 50/200-day MA · RSI(14)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 shape</a:t>
                      </a:r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pullback, extended, range, trend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Realised range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3-month (high − low) ÷ midpoint; RV percentile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Range-bound vs trending (income vs participation)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Correlation (baskets)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Implied or 6m realised pairwise correlation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Whether a worst-of coupon is value or a trap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&amp; rate vol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2y/5y yield vs 10-year history · swaption vol / MOVE percentile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Protection-note budget; range-accrual coupons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Dividends &amp; issuer spread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12m dividend yield · issuer 5y CDS / funding spread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 price (calls cheaper, puts dearer) · note terms vs credit risk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350946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 THE TAPE · THRESHOLDS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5851" y="452628"/>
            <a:ext cx="5609844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80015" y="32004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52230"/>
          </a:solidFill>
          <a:ln w="12700">
            <a:solidFill>
              <a:srgbClr val="1522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80015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82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CALIBRATE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Starting thresholds: cheap, fair, rich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1463040"/>
                <a:gridCol w="35963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SIGNAL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CHEAP → BUY VOL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FAIR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RICH → SELL VOL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percentile (1y)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25th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25th–75th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75th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D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IV30 ÷ RV30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0.9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0.9–1.2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1.2 (or IV − RV &gt; +4 vol pts)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D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Earnings implied ÷ avg realised (4 prints)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0.8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0.8–1.2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1.2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D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Skew percentile (25Δ put − call)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25th: flat → buy puts outright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25th–75th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75th: steep → sell puts, barriers, risk reversals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D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 structure (IV1m ÷ IV3m)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0.9: steep contango → front is cheap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0.9–1.05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1.05: inverted → front carries event/stress premium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D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vol percentile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25th: floors/caps cheap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25th–75th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75th: range accruals &amp; callables pay more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D1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025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PRICE SIGNAL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READING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Drawdown from 52w high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10%: near highs · </a:t>
                      </a:r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15–35%: dislocation</a:t>
                      </a:r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· &gt; 40%: distressed, recheck fundamentals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RSI(14)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30 oversold (sell puts below) · &gt; 70 overbought (sell upside, don't buy calls outright)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Trend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Above rising 50/200-day: participation · below 200-day: defined risk or income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Realised range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3m range &lt; ~12% of price and RV in bottom third: </a:t>
                      </a:r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range-bound</a:t>
                      </a:r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→ income structures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350946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 THE TAPE · VOL STANCE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5851" y="452628"/>
            <a:ext cx="7347204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signals into a stance: buy, sell or neutral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15258" cy="3840480"/>
          </a:xfrm>
          <a:prstGeom prst="rect">
            <a:avLst/>
          </a:prstGeom>
          <a:solidFill>
            <a:srgbClr val="15223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27632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152230"/>
          </a:solidFill>
          <a:ln w="12700">
            <a:solidFill>
              <a:srgbClr val="1522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6276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82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 VOL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057400"/>
            <a:ext cx="311292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percentile &lt; 25th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IV30 ÷ RV30 &lt; 0.9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ratio &lt; 0.8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Dated catalyst inside the tenor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Skew flat (protection cheap)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114800"/>
            <a:ext cx="31129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 signals → buy optionality.</a:t>
            </a:r>
            <a:pPr indent="0" marL="0">
              <a:buNone/>
            </a:pPr>
            <a:r>
              <a:rPr lang="en-US" sz="125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Long options, spreads, straddles, Market Protection and Sharkfin notes.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38218" y="1463040"/>
            <a:ext cx="3515258" cy="384048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1098" y="1627632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1A1E18"/>
          </a:solidFill>
          <a:ln w="12700">
            <a:solidFill>
              <a:srgbClr val="1A1E1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1098" y="16276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NEUTRAL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539386" y="2057400"/>
            <a:ext cx="311292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mixed or all fair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catalyst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 near its median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39386" y="4114800"/>
            <a:ext cx="31129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spreads</a:t>
            </a:r>
            <a:pPr indent="0" marL="0">
              <a:buNone/>
            </a:pPr>
            <a:r>
              <a:rPr lang="en-US" sz="125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(buy one, sell one) so vega roughly nets out, or use </a:t>
            </a:r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</a:t>
            </a:r>
            <a:pPr indent="0" marL="0">
              <a:buNone/>
            </a:pPr>
            <a:r>
              <a:rPr lang="en-US" sz="125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Let the view, not vol, drive.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27797" y="1463040"/>
            <a:ext cx="3515258" cy="3840480"/>
          </a:xfrm>
          <a:prstGeom prst="rect">
            <a:avLst/>
          </a:prstGeom>
          <a:solidFill>
            <a:srgbClr val="271D1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10677" y="1627632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271D10"/>
          </a:solidFill>
          <a:ln w="12700">
            <a:solidFill>
              <a:srgbClr val="271D1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10677" y="16276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DBA7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 VOL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328965" y="2057400"/>
            <a:ext cx="311292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percentile &gt; 75th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IV30 ÷ RV30 &gt; 1.2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ratio &gt; 1.2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Post-event IV still elevated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Skew steep (puts rich)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328965" y="4114800"/>
            <a:ext cx="31129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 signals → sell optionality.</a:t>
            </a:r>
            <a:pPr indent="0" marL="0">
              <a:buNone/>
            </a:pPr>
            <a:r>
              <a:rPr lang="en-US" sz="125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Overwrites, put sales, collars, income notes (RevCon, FCN, Phoenix, Buy-the-Dip).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11094415" cy="68580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486400"/>
            <a:ext cx="36576" cy="685800"/>
          </a:xfrm>
          <a:prstGeom prst="rect">
            <a:avLst/>
          </a:prstGeom>
          <a:solidFill>
            <a:srgbClr val="82B4DE"/>
          </a:solidFill>
          <a:ln w="12700">
            <a:solidFill>
              <a:srgbClr val="82B4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5596128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2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 RULE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852160"/>
            <a:ext cx="107286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vol level and VRP disagree (e.g. IV high in percentile but below realised),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IV vs realised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it measures price against what the asset is actually doing now.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350946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 THE TAPE · VIEW SHAPE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5851" y="452628"/>
            <a:ext cx="7347204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action tells you participation vs income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743200"/>
                <a:gridCol w="2194560"/>
                <a:gridCol w="25904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MARKET PATTERN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WHAT IT SUGGESTS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PAYOFF OBJECTIVE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STRUCTURE FAMILY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name 15–35% off high, fundamentals intact, RSI &lt; 40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Recovery likely, timing unknown; happy to own lower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Income, paid to enter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Put sale · RevCon · FCN · Buy-the-Dip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 highs, RSI &gt; 70, rising trend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Extended; don't chase delta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Participation, but enter lower or capped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spread · Buy-the-Dip · overwrite if held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trend above rising 50/200-day, catalyst ahead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Momentum with a reason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Participation, uncapped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calls · risk reversal · protection note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Range-bound: tight 3m range, low RV, no catalyst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 happens; get paid for time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Overwrite · strangle/condor · Phoenix · FCN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Dated binary event, direction unclear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 move, either way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Participation (both sides)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Straddle/strangle if cheap; sell it if rich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VIX, crowded calendar, weak breadth underneath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Complacency; tail under-priced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Protection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 put spreads · collars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boxed in a band; front end anchored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Range-bound rates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Callable range accrual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high, market pricing cuts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Lock or floor today's rates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 / protection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Capped floored floater · protection note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32863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 THE TAPE · REFINERS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72738" y="452628"/>
            <a:ext cx="7570318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 signals that change the construction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72539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SIGNAL</a:t>
                      </a:r>
                      <a:endParaRPr lang="en-US" sz="10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STATE</a:t>
                      </a:r>
                      <a:endParaRPr lang="en-US" sz="10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IMPLICATION FOR THE CONSTRUCTION</a:t>
                      </a:r>
                      <a:endParaRPr lang="en-US" sz="10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Skew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Steep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 the put wing: put sales, RevCons, barrier notes, risk reversals, put-spread (not outright put) hedges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 puts outright; collars less efficient; call wings relatively dear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 structure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Inverted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 the front (overwrite through the event), buy longer tenors; hedges are cheaper further out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Steep contango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 short-dated optionality for near events; sell longer-dated premium (notes)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Correlation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(&gt; 0.6)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Worst-of coupons are lower but honest; basket behaves like one name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(&lt; 0.4)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Worst-of coupon looks rich </a:t>
                      </a:r>
                      <a:pPr indent="0" marL="0">
                        <a:buNone/>
                      </a:pPr>
                      <a:r>
                        <a:rPr lang="en-US" sz="13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because the risk is high</a:t>
                      </a:r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; prefer single-name or equal-weight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level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vs history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Zero-coupon bond cheap → protection notes get better participation; RevCon coupons higher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Dividend yield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 lower → calls cheaper, puts dearer; notes (you forgo dividends) pay better coupons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Issuer spread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Wide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Better note terms, but you are paid for issuer risk; cap issuer concentration</a:t>
                      </a:r>
                      <a:endParaRPr lang="en-US" sz="13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64008" cy="64008"/>
          </a:xfrm>
          <a:prstGeom prst="ellipse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" y="1188720"/>
            <a:ext cx="10552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02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024482" y="1312164"/>
            <a:ext cx="9435694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107286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playbooks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1480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Pullback · sell vol · buy vol · bullish with uncapped upside · hedging · rates. Each has a trigger, if/then rules, and kill conditions.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339791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PLAYBOOK · PULLBACK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84294" y="452628"/>
            <a:ext cx="5721401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80015" y="32004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A1E18"/>
          </a:solidFill>
          <a:ln w="12700">
            <a:solidFill>
              <a:srgbClr val="1A1E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80015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BFC7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 / ENTRY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Pullback: a quality name has sold off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389888"/>
            <a:ext cx="11094415" cy="713232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89888"/>
            <a:ext cx="36576" cy="713232"/>
          </a:xfrm>
          <a:prstGeom prst="rect">
            <a:avLst/>
          </a:prstGeom>
          <a:solidFill>
            <a:srgbClr val="3B4335"/>
          </a:solidFill>
          <a:ln w="12700">
            <a:solidFill>
              <a:srgbClr val="3B43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1499616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17556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15–35% off the 52-week high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fundamentals / estimates intact · RSI(14) &lt; 40 · often IV percentile &gt; 60 and skew steep after the fall.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240280"/>
                <a:gridCol w="31391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THE TAPE ALSO SHOWS…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OTC STRUCTURE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STRUCTURED NOTE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INDICATIVE CONSTRUCTION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</a:t>
                      </a:r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</a:t>
                      </a:r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skew steep, you'd own it here or lower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Cash-secured put, 1–3m, 15–25Δ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Reverse convertible or FCN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Strike ~85–95% (at support); coupon scales with IV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</a:t>
                      </a:r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want an entry below today's price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Laddered put sales across strikes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Buy-the-Dip note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Dip level 85–95%; coupon mostly from rates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</a:t>
                      </a:r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</a:t>
                      </a:r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high conviction on the rebound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spread 3–6m, or long call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BREN (levered to a cap)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~ATM, short at prior high / target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Several quality names down together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Basket put sale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Worst-of FCN / Phoenix </a:t>
                      </a:r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if corr &gt; 0.6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names you'd own each of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 pullback 5–10%, VIX spike, term inverted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 index put spreads, front month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Phoenix on the index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Barrier below prior cycle low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5440680"/>
            <a:ext cx="36576" cy="731520"/>
          </a:xfrm>
          <a:prstGeom prst="rect">
            <a:avLst/>
          </a:prstGeom>
          <a:solidFill>
            <a:srgbClr val="DE8974"/>
          </a:solidFill>
          <a:ln w="12700">
            <a:solidFill>
              <a:srgbClr val="DE897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5550408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E89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AVOID / KILL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580644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cuts or downgrades · credit spread on the name widening · below a falling 200-day with RV accelerating · earnings inside a RevCon tenor unless deliberately harvested →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sell puts into a falling knife; use call spreads (defined risk) instead.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339791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PLAYBOOK · SELL VOL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84294" y="452628"/>
            <a:ext cx="5721401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80015" y="32004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22420"/>
          </a:solidFill>
          <a:ln w="12700">
            <a:solidFill>
              <a:srgbClr val="1224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80015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VEGA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 vol: insurance is overpriced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389888"/>
            <a:ext cx="11094415" cy="713232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89888"/>
            <a:ext cx="36576" cy="713232"/>
          </a:xfrm>
          <a:prstGeom prst="rect">
            <a:avLst/>
          </a:prstGeom>
          <a:solidFill>
            <a:srgbClr val="3B4335"/>
          </a:solidFill>
          <a:ln w="12700">
            <a:solidFill>
              <a:srgbClr val="3B43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1499616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17556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 of: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IV percentile &gt; 75th · IV30 ÷ RV30 &gt; 1.2 · earnings ratio &gt; 1.2 · IV still elevated after the event · steep skew.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240280"/>
                <a:gridCol w="31391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THE TAPE ALSO SHOWS…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OTC STRUCTURE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STRUCTURED NOTE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INDICATIVE CONSTRUCTION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Range-bound, tight realised range, no event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 strangle / iron condor 1–2m, 15–20Δ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Phoenix (memory) or FCN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Barriers outside the 3m realised range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Mildly bullish, stock already held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Covered call 1–3m, 5–10% OTM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ACM+ / Digital Review Note (new money)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Strike at resistance / prior high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own it lower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Cash-secured put 15–25Δ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Reverse convertible · Buy-the-Dip if rates high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Strike / dip level where you'd genuinely buy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Inverted term structure after an event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 front month, buy 3m (calendar)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strike; roll the short leg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vol rich, rates boxed in a band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 swaption strangle (specialist)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Callable range accrual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 around the realised range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5440680"/>
            <a:ext cx="36576" cy="731520"/>
          </a:xfrm>
          <a:prstGeom prst="rect">
            <a:avLst/>
          </a:prstGeom>
          <a:solidFill>
            <a:srgbClr val="DE8974"/>
          </a:solidFill>
          <a:ln w="12700">
            <a:solidFill>
              <a:srgbClr val="DE897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5550408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E89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AVOID / KILL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580644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 rich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reason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(binary: trial, deal, ruling inside the tenor) · vol-of-vol high · price breaking out of its range · short-vol positions without a defined max loss sized for a gap.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32863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PLAYBOOK · BUY VOL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72738" y="452628"/>
            <a:ext cx="5832958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80015" y="32004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52230"/>
          </a:solidFill>
          <a:ln w="12700">
            <a:solidFill>
              <a:srgbClr val="1522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80015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82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VEGA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 vol: optionality is on sale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389888"/>
            <a:ext cx="11094415" cy="713232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89888"/>
            <a:ext cx="36576" cy="713232"/>
          </a:xfrm>
          <a:prstGeom prst="rect">
            <a:avLst/>
          </a:prstGeom>
          <a:solidFill>
            <a:srgbClr val="3B4335"/>
          </a:solidFill>
          <a:ln w="12700">
            <a:solidFill>
              <a:srgbClr val="3B43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1499616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17556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 of: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IV percentile &lt; 25th · IV30 ÷ RV30 &lt; 0.9 · earnings ratio &lt; 0.8 · a dated catalyst inside the tenor · flat skew.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240280"/>
                <a:gridCol w="31391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THE TAPE ALSO SHOWS…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OTC STRUCTURE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STRUCTURED NOTE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INDICATIVE CONSTRUCTION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Directional view + catalyst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call / put, or 1x1 spread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Expiry 1–2 weeks after the catalyst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 move expected, direction unclear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Straddle / strangle through the event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Exit the day after; don't hold for decay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Steep contango, event 1–2m out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 front-month options (cheapest per day)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Expiry just after the event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vol + rates high + want equity with a floor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call + T-bills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Protection Note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90–100% protection; participation is best when IV is low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vol + rates high + upside to a target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spread + T-bills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Sharkfin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Knock-out barrier above the target; rebate if hit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5440680"/>
            <a:ext cx="36576" cy="731520"/>
          </a:xfrm>
          <a:prstGeom prst="rect">
            <a:avLst/>
          </a:prstGeom>
          <a:solidFill>
            <a:srgbClr val="DE8974"/>
          </a:solidFill>
          <a:ln w="12700">
            <a:solidFill>
              <a:srgbClr val="DE897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5550408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E89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AVOID / KILL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580644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 cheap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nothing is happening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no catalyst inside the tenor means theta bleed · holding long options past the event · buying the same option that realised vol has already outrun.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518281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PLAYBOOK · BULLISH, UNCAPPED UPSIDE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69203" y="452628"/>
            <a:ext cx="3936492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80015" y="32004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22420"/>
          </a:solidFill>
          <a:ln w="12700">
            <a:solidFill>
              <a:srgbClr val="1224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80015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PARTICIPATION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Bullish with uncapped upside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389888"/>
            <a:ext cx="11094415" cy="713232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89888"/>
            <a:ext cx="36576" cy="713232"/>
          </a:xfrm>
          <a:prstGeom prst="rect">
            <a:avLst/>
          </a:prstGeom>
          <a:solidFill>
            <a:srgbClr val="3B4335"/>
          </a:solidFill>
          <a:ln w="12700">
            <a:solidFill>
              <a:srgbClr val="3B43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1499616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17556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conviction,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target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price above rising 50/200-day, catalyst ahead, RSI 50–70 (not yet extended). Any cap defeats the view.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240280"/>
                <a:gridCol w="31391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THE TAPE ALSO SHOWS…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OTC STRUCTURE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STRUCTURED NOTE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INDICATIVE CONSTRUCTION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</a:t>
                      </a:r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</a:t>
                      </a:r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(percentile &lt; 30)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calls 3–12m, ATM to 5% OTM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Protection Note (uncapped)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Longer tenor if rates are high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</a:t>
                      </a:r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</a:t>
                      </a:r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skew steep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reversal: sell 90% put, buy 110% call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cost; you accept owning lower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Want leverage and can accept a cap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spread (capped: flag it)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BREN (capped: flag it)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if the cap sits above the target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RSI &gt; 70, extended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 puts to enter lower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Buy-the-Dip (converts at the dip)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 lower, then hold the stock uncapped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Conviction on a basket / sector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ETF calls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Participation note on the index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 vol &lt; single-name vol: cheaper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5440680"/>
            <a:ext cx="36576" cy="731520"/>
          </a:xfrm>
          <a:prstGeom prst="rect">
            <a:avLst/>
          </a:prstGeom>
          <a:solidFill>
            <a:srgbClr val="DE8974"/>
          </a:solidFill>
          <a:ln w="12700">
            <a:solidFill>
              <a:srgbClr val="DE897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5550408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E89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AVOID / KILL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580644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that caps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call spreads, 1x2 ratios, overwrites, autocalls, BRENs and Sharkfins all sell the upside this view needs. Use them only if a target exists.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32863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PLAYBOOK · HEDGING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72738" y="452628"/>
            <a:ext cx="5832958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80015" y="32004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52230"/>
          </a:solidFill>
          <a:ln w="12700">
            <a:solidFill>
              <a:srgbClr val="1522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80015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82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PROTECTION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Hedging: protect what you own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389888"/>
            <a:ext cx="11094415" cy="713232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89888"/>
            <a:ext cx="36576" cy="713232"/>
          </a:xfrm>
          <a:prstGeom prst="rect">
            <a:avLst/>
          </a:prstGeom>
          <a:solidFill>
            <a:srgbClr val="3B4335"/>
          </a:solidFill>
          <a:ln w="12700">
            <a:solidFill>
              <a:srgbClr val="3B43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1499616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17556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hedge first: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name vs index · event vs tail vs drawdown · how much fall to cover · for how long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Then read vol, skew and term structure.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240280"/>
                <a:gridCol w="31391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THE TAPE ALSO SHOWS…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OTC STRUCTURE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STRUCTURED NOTE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INDICATIVE CONSTRUCTION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cheap, skew flat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puts, 90–95%, 3–6m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Protection Note (re-risk with floor)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 protection outright; it's on sale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rich or skew steep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Put spread (95/80) or put-spread collar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BREN (buffer covers first 10–20%)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 the rich lower wing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Concentrated, low-basis winner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Zero-cost collar 6–12m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Put ~90%, call set for zero cost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hedge (earnings, election)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Put / put spread expiring after the event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term inverted, go one month longer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Portfolio tail (low VIX, crowded calendar)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 put spreads, 5–10% OTM, 3–6m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 premium as % of book p.a.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5440680"/>
            <a:ext cx="36576" cy="731520"/>
          </a:xfrm>
          <a:prstGeom prst="rect">
            <a:avLst/>
          </a:prstGeom>
          <a:solidFill>
            <a:srgbClr val="DE8974"/>
          </a:solidFill>
          <a:ln w="12700">
            <a:solidFill>
              <a:srgbClr val="DE897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5550408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E89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AVOID / KILL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580644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ATM puts outright in rich vol · hedging index beta with single-name puts · rolling puts continuously without a budget · a collar on a name you're strongly bullish on.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PLAYBOOK · RATES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849624" y="452628"/>
            <a:ext cx="6056071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80015" y="32004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A1E18"/>
          </a:solidFill>
          <a:ln w="12700">
            <a:solidFill>
              <a:srgbClr val="1A1E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80015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BFC7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Rates views on the note shelf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389888"/>
            <a:ext cx="11094415" cy="713232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89888"/>
            <a:ext cx="36576" cy="713232"/>
          </a:xfrm>
          <a:prstGeom prst="rect">
            <a:avLst/>
          </a:prstGeom>
          <a:solidFill>
            <a:srgbClr val="3B4335"/>
          </a:solidFill>
          <a:ln w="12700">
            <a:solidFill>
              <a:srgbClr val="3B43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1499616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17556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vs history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curve vs your view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vol percentile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realised range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rates improve almost every note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these are the most rates-sensitive.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240280"/>
                <a:gridCol w="31391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THE TAPE ALSO SHOWS…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OTC STRUCTURE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STRUCTURED NOTE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INDICATIVE CONSTRUCTION</a:t>
                      </a:r>
                      <a:endParaRPr lang="en-US" sz="9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range-bound, rate vol elevated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 swaption strangle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Callable range accrual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 ≈ realised range; coupon rises with rate vol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high; cuts priced, you fear deeper cuts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 a floor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Capped floored floater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near/below forwards; cap well above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high, equity vol low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T-bills + calls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Protection · Sharkfin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rates fund better participation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high, equity IV rich, want a name lower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Cash-secured put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Buy-the-Dip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Deposit-like coupon; converts at the dip level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falling, want a fixed coupon locked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Receiver swaption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Non-callable fixed-coupon bond / note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callables: called when you need them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5440680"/>
            <a:ext cx="36576" cy="731520"/>
          </a:xfrm>
          <a:prstGeom prst="rect">
            <a:avLst/>
          </a:prstGeom>
          <a:solidFill>
            <a:srgbClr val="DE8974"/>
          </a:solidFill>
          <a:ln w="12700">
            <a:solidFill>
              <a:srgbClr val="DE897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5550408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E89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AVOID / KILL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580644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accruals when a breakout is plausible (fiscal shock, policy surprise) · callables when big cuts are expected · floaters whose cap sits inside the plausible rate path.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64008" cy="64008"/>
          </a:xfrm>
          <a:prstGeom prst="ellipse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" y="1188720"/>
            <a:ext cx="10552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03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024482" y="1312164"/>
            <a:ext cx="9435694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107286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structured-note shelf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1480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note terms, which note fits which tape, and a card for each: RevCon, FCN, Phoenix, Digital Review, BREN, ACM+, Market Protection, Sharkfin, and the rates-linked trio: Buy-the-Dip, Callable Range Accrual, Capped Floored Floater.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1947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 · ANATOMY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734056" y="452628"/>
            <a:ext cx="8908999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note is a bond plus options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4023360" cy="420624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17320"/>
            <a:ext cx="36576" cy="4206240"/>
          </a:xfrm>
          <a:prstGeom prst="rect">
            <a:avLst/>
          </a:prstGeom>
          <a:solidFill>
            <a:srgbClr val="3B4335"/>
          </a:solidFill>
          <a:ln w="12700">
            <a:solidFill>
              <a:srgbClr val="3B43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5270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1783080"/>
            <a:ext cx="365760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investor buys a 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bond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issuer's funding) plus an 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package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
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notes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(RevCon, FCN, Phoenix, Digital Review, Buy-the-Dip, range accrual, capped floored floater): the investor 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sells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optionality, and the premium plus the bond yield becomes the coupon.
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notes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(Market Protection, Sharkfin): the investor 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buys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options with the bond's discount.
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Hybrids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(BREN, ACM+): buy some optionality, sell other optionality to fund it.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17320"/>
          <a:ext cx="679673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23161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WHEN THIS RISES…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SHORT-VOL INCOME NOTES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LONG-VOL PROTECTION NOTES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Implied volatility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Better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higher coupons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Worse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lower participation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Interest rates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Better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bigger funding leg, higher coupon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Better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cheaper zero bond, more option budget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Issuer credit spread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Better terms, more credit risk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Better terms, more credit risk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Dividend yield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Better coupons (you forgo dividends)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Worse (calls cheaper, but you forgo dividends)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Skew (put richness)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Better: sold put worth more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Neutral to slightly worse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Correlation (worst-of)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corr = higher coupon 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risk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Tenor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coupon, more path risk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Better participation, longer lock-up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846320" y="5212080"/>
            <a:ext cx="6796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</a:t>
            </a:r>
            <a:pPr indent="0" marL="0"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rates usually improve every note's terms.</a:t>
            </a:r>
            <a:pPr indent="0" marL="0"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Sell-vol notes when IV is rich; buy-vol notes when IV is cheap. Buy-the-Dip, range accruals and floaters are the most rates-sensitive.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17078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 · SELECTION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957170" y="452628"/>
            <a:ext cx="8685886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note? Start from the tape and the view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44752"/>
            <a:ext cx="4663440" cy="45720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4447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view, not equity?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4447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444752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Range-bound → </a:t>
            </a:r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Callable Range Accrual</a:t>
            </a:r>
            <a:pPr indent="0" marL="0">
              <a:buNone/>
            </a:pPr>
            <a:r>
              <a:rPr lang="en-US" sz="125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high rates, fear deep cuts → </a:t>
            </a:r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Capped Floored Floater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1965960"/>
            <a:ext cx="4663440" cy="457200"/>
          </a:xfrm>
          <a:prstGeom prst="rect">
            <a:avLst/>
          </a:prstGeom>
          <a:solidFill>
            <a:srgbClr val="1C201A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19659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the principal back, IV low, rates high?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1965960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upside → </a:t>
            </a:r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Protection</a:t>
            </a:r>
            <a:pPr indent="0" marL="0">
              <a:buNone/>
            </a:pPr>
            <a:r>
              <a:rPr lang="en-US" sz="125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upside to a target → </a:t>
            </a:r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Sharkfin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487168"/>
            <a:ext cx="4663440" cy="45720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4871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to own it lower, and rates are high?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4871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2487168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Buy-the-Dip</a:t>
            </a:r>
            <a:pPr indent="0" marL="0">
              <a:buNone/>
            </a:pPr>
            <a:r>
              <a:rPr lang="en-US" sz="125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deposit-like coupon, converts at the dip level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008376"/>
            <a:ext cx="4663440" cy="457200"/>
          </a:xfrm>
          <a:prstGeom prst="rect">
            <a:avLst/>
          </a:prstGeom>
          <a:solidFill>
            <a:srgbClr val="1C201A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0083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bullish to a target; skew steep?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0083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3008376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</a:t>
            </a:r>
            <a:pPr indent="0" marL="0">
              <a:buNone/>
            </a:pPr>
            <a:r>
              <a:rPr lang="en-US" sz="125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levered upside to a cap, buffered downside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529584"/>
            <a:ext cx="4663440" cy="45720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5295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Flat-to-up but want upside kept at maturity?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35295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3529584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ACM+</a:t>
            </a:r>
            <a:pPr indent="0" marL="0">
              <a:buNone/>
            </a:pPr>
            <a:r>
              <a:rPr lang="en-US" sz="125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call premium, or max(digital, upside) at maturity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050792"/>
            <a:ext cx="4663440" cy="457200"/>
          </a:xfrm>
          <a:prstGeom prst="rect">
            <a:avLst/>
          </a:prstGeom>
          <a:solidFill>
            <a:srgbClr val="1C201A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0507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Flat-to-up; want a fixed lump sum, not coupons?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40507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4050792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Review Note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572000"/>
            <a:ext cx="4663440" cy="45720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45720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view; want coupon resilience through dips?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257800" y="4572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0" y="4572000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</a:t>
            </a:r>
            <a:pPr indent="0" marL="0">
              <a:buNone/>
            </a:pPr>
            <a:r>
              <a:rPr lang="en-US" sz="125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(memory coupon)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093208"/>
            <a:ext cx="4663440" cy="457200"/>
          </a:xfrm>
          <a:prstGeom prst="rect">
            <a:avLst/>
          </a:prstGeom>
          <a:solidFill>
            <a:srgbClr val="1C201A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50932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Sideways-to-up; want guaranteed monthly coupons?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5257800" y="5093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0" y="5093208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FCN</a:t>
            </a:r>
            <a:pPr indent="0" marL="0">
              <a:buNone/>
            </a:pPr>
            <a:r>
              <a:rPr lang="en-US" sz="125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fixed coupons, knock-out, strike delivery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614416"/>
            <a:ext cx="4663440" cy="45720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" y="561441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own it lower; short horizon; IV rich?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5257800" y="56144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43" name="Text 41"/>
          <p:cNvSpPr txBox="1"/>
          <p:nvPr/>
        </p:nvSpPr>
        <p:spPr>
          <a:xfrm>
            <a:off x="5669280" y="5614416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convertible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top to bottom: the first question answered "yes" picks the note. Order runs from most protective to most income-seeking.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 · CARDS 1 OF 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2628"/>
            <a:ext cx="8351215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 Convertible and Fixed Coupon Note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389888"/>
            <a:ext cx="5410048" cy="4828032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 Convertible (RevCon)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1956816"/>
            <a:ext cx="923544" cy="256032"/>
          </a:xfrm>
          <a:prstGeom prst="roundRect">
            <a:avLst>
              <a:gd name="adj" fmla="val 14286"/>
            </a:avLst>
          </a:prstGeom>
          <a:solidFill>
            <a:srgbClr val="271D10"/>
          </a:solidFill>
          <a:ln w="12700">
            <a:solidFill>
              <a:srgbClr val="271D1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195681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DBA7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VOL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728216" y="1956816"/>
            <a:ext cx="676656" cy="256032"/>
          </a:xfrm>
          <a:prstGeom prst="roundRect">
            <a:avLst>
              <a:gd name="adj" fmla="val 14286"/>
            </a:avLst>
          </a:prstGeom>
          <a:solidFill>
            <a:srgbClr val="241B23"/>
          </a:solidFill>
          <a:ln w="12700">
            <a:solidFill>
              <a:srgbClr val="241B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28216" y="1956816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C29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coupon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At maturity: above the strike (or never below the knock-in barrier) → par back; otherwise delivered shares or cash equivalent. Economically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+ sold put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5FC1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percentile &gt; 60 · after a 15–35% pullback · strike at support / where you'd own it · steep skew · no binary event inside the tenor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DE89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Falling knife (estimate cuts, credit widening) · you would not want the shares · IV cheap (poor coupon)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49C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3–12m · strike 85–100% (European) or 100% strike with 60–80% knock-in · coupon scales with IV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233008" y="1389888"/>
            <a:ext cx="5410048" cy="4828032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97600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Coupon Note (FCN)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6397600" y="1956816"/>
            <a:ext cx="923544" cy="256032"/>
          </a:xfrm>
          <a:prstGeom prst="roundRect">
            <a:avLst>
              <a:gd name="adj" fmla="val 14286"/>
            </a:avLst>
          </a:prstGeom>
          <a:solidFill>
            <a:srgbClr val="271D10"/>
          </a:solidFill>
          <a:ln w="12700">
            <a:solidFill>
              <a:srgbClr val="271D1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97600" y="195681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DBA7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VOL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412584" y="1956816"/>
            <a:ext cx="676656" cy="256032"/>
          </a:xfrm>
          <a:prstGeom prst="roundRect">
            <a:avLst>
              <a:gd name="adj" fmla="val 14286"/>
            </a:avLst>
          </a:prstGeom>
          <a:solidFill>
            <a:srgbClr val="241B23"/>
          </a:solidFill>
          <a:ln w="12700">
            <a:solidFill>
              <a:srgbClr val="241B2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12584" y="1956816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C29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6397600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periodic (often monthly) coupons.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Knocks out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early if the underlying(s) are at/above the KO level on an observation date. At maturity, below the knock-in → shares delivered at the strike. Often worst-of.</a:t>
            </a:r>
            <a:endParaRPr lang="en-US" sz="13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7600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5FC1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elevated, especially front-end · sideways-to-up view · for worst-of: implied correlation &gt; 0.6 and you'd own every name · want steady monthly cash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DE89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Low-correlation baskets (a juicy coupon priced for a real risk) · strong downtrend · names with earnings clustering early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49C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3–12m · monthly coupons · KO 100–105%, monthly after 1–3m non-call · strike 75–95% · knock-in 60–75%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 · CARDS 2 OF 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2628"/>
            <a:ext cx="8351215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Phoenix Autocall and Digital Review Note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389888"/>
            <a:ext cx="5410048" cy="4828032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Phoenix Autocall (memory)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1956816"/>
            <a:ext cx="923544" cy="256032"/>
          </a:xfrm>
          <a:prstGeom prst="roundRect">
            <a:avLst>
              <a:gd name="adj" fmla="val 14286"/>
            </a:avLst>
          </a:prstGeom>
          <a:solidFill>
            <a:srgbClr val="271D10"/>
          </a:solidFill>
          <a:ln w="12700">
            <a:solidFill>
              <a:srgbClr val="271D1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195681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DBA7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VOL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728216" y="1956816"/>
            <a:ext cx="676656" cy="256032"/>
          </a:xfrm>
          <a:prstGeom prst="roundRect">
            <a:avLst>
              <a:gd name="adj" fmla="val 14286"/>
            </a:avLst>
          </a:prstGeom>
          <a:solidFill>
            <a:srgbClr val="241B23"/>
          </a:solidFill>
          <a:ln w="12700">
            <a:solidFill>
              <a:srgbClr val="241B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28216" y="1956816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C29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coupon each period the underlying is above the coupon barrier; missed coupons are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remembered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paid later. Autocalls at/above the initial level. Capital at risk below the maturity barrier.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5FC1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elevated and above realised · range-bound tape (tight 3m range) · coupon barrier below historical max drawdowns over similar windows · want coupon resilience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DE89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downtrend (coupons stop, capital at risk) · strong uptrend (called early, reinvestment risk) · gap-risk names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49C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12–36m · quarterly · coupon barrier 60–80% · autocall 100% (may step down) · capital barrier 50–70% at maturity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233008" y="1389888"/>
            <a:ext cx="5410048" cy="4828032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97600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Review Note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6397600" y="1956816"/>
            <a:ext cx="923544" cy="256032"/>
          </a:xfrm>
          <a:prstGeom prst="roundRect">
            <a:avLst>
              <a:gd name="adj" fmla="val 14286"/>
            </a:avLst>
          </a:prstGeom>
          <a:solidFill>
            <a:srgbClr val="271D10"/>
          </a:solidFill>
          <a:ln w="12700">
            <a:solidFill>
              <a:srgbClr val="271D1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97600" y="195681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DBA7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VOL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412584" y="1956816"/>
            <a:ext cx="676656" cy="256032"/>
          </a:xfrm>
          <a:prstGeom prst="roundRect">
            <a:avLst>
              <a:gd name="adj" fmla="val 14286"/>
            </a:avLst>
          </a:prstGeom>
          <a:solidFill>
            <a:srgbClr val="241B23"/>
          </a:solidFill>
          <a:ln w="12700">
            <a:solidFill>
              <a:srgbClr val="241B2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12584" y="1956816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C29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6397600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on set dates: at/above the call level →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called with a fixed premium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(grows each review). If never called: above the barrier at maturity → par + fixed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return; below → loss 1:1 (or after a buffer).</a:t>
            </a:r>
            <a:endParaRPr lang="en-US" sz="13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7600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5FC1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elevated · flat-to-mildly-up view to the first review · prefer a </a:t>
                      </a:r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lump-sum</a:t>
                      </a:r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return to periodic coupons · dividends high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DE89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Big-rally view (you only earn the premium) · gap-risk names · IV cheap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49C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12–36m · annual or quarterly reviews · call level 100% · barrier 60–80% · premium set by IV and rates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 · CARDS 3 OF 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2628"/>
            <a:ext cx="8351215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BREN and ACM+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389888"/>
            <a:ext cx="5410048" cy="4828032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1956816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1A1E18"/>
          </a:solidFill>
          <a:ln w="12700">
            <a:solidFill>
              <a:srgbClr val="1A1E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19568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444752" y="1956816"/>
            <a:ext cx="1252728" cy="256032"/>
          </a:xfrm>
          <a:prstGeom prst="roundRect">
            <a:avLst>
              <a:gd name="adj" fmla="val 14286"/>
            </a:avLst>
          </a:prstGeom>
          <a:solidFill>
            <a:srgbClr val="122420"/>
          </a:solidFill>
          <a:ln w="12700">
            <a:solidFill>
              <a:srgbClr val="1224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44752" y="1956816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PARTICIPATION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Buffered Return Enhanced Note.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Levered upside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(e.g. 1.5–3×) up to a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return cap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a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absorbs the first 10–20% of losses, then loss 1:1 beyond it. Bought calls funded by selling the cap and the put below the buffer.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5FC1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Moderately bullish </a:t>
                      </a:r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a target below the cap</a:t>
                      </a:r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· steep skew (the sold put funds more leverage) · IV moderate-to-high · want partial downside cushion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DE89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Breakout / uncapped view (the cap binds) · tail risk beyond the buffer · target above the cap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49C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12–24m · 1.5–3× upside · cap 15–30% · buffer 10–20%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233008" y="1389888"/>
            <a:ext cx="5410048" cy="4828032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97600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ACM+ (Autocallable Market Plus)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6397600" y="1956816"/>
            <a:ext cx="923544" cy="256032"/>
          </a:xfrm>
          <a:prstGeom prst="roundRect">
            <a:avLst>
              <a:gd name="adj" fmla="val 14286"/>
            </a:avLst>
          </a:prstGeom>
          <a:solidFill>
            <a:srgbClr val="271D10"/>
          </a:solidFill>
          <a:ln w="12700">
            <a:solidFill>
              <a:srgbClr val="271D1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97600" y="195681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DBA7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VOL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412584" y="1956816"/>
            <a:ext cx="1252728" cy="256032"/>
          </a:xfrm>
          <a:prstGeom prst="roundRect">
            <a:avLst>
              <a:gd name="adj" fmla="val 14286"/>
            </a:avLst>
          </a:prstGeom>
          <a:solidFill>
            <a:srgbClr val="122420"/>
          </a:solidFill>
          <a:ln w="12700">
            <a:solidFill>
              <a:srgbClr val="12242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12584" y="1956816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PARTICIPATION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6397600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Called early with a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premium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at/above the initial level on a review date. If not called: at maturity above the barrier → par + the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of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contingent digital return and the underlying's return (upside kept); below → loss 1:1.</a:t>
            </a:r>
            <a:endParaRPr lang="en-US" sz="13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7600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5FC1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Flat-to-up with upside optionality at maturity · IV elevated · steep skew · dividends high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DE89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Gap-risk names · strong downtrend · IV cheap (premium thin)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49C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12–36m · annual/quarterly reviews · barrier 60–80% · confirm naming and mechanics on the issuer's term sheet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 · CARDS 4 OF 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2628"/>
            <a:ext cx="8351215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Protection Note and Sharkfin Note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389888"/>
            <a:ext cx="5410048" cy="4828032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Protection Note (MPN)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1956816"/>
            <a:ext cx="841248" cy="256032"/>
          </a:xfrm>
          <a:prstGeom prst="roundRect">
            <a:avLst>
              <a:gd name="adj" fmla="val 14286"/>
            </a:avLst>
          </a:prstGeom>
          <a:solidFill>
            <a:srgbClr val="152230"/>
          </a:solidFill>
          <a:ln w="12700">
            <a:solidFill>
              <a:srgbClr val="1522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195681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82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VOL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45920" y="1956816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52230"/>
          </a:solidFill>
          <a:ln w="12700">
            <a:solidFill>
              <a:srgbClr val="1522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45920" y="19568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82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PROTECTION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90–100% of principal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 at maturity (issuer credit aside) plus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underlying's rise, capped or uncapped. A zero-coupon bond plus a bought call.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5FC1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high vs history (cheap zero bond) · IV percentile &lt; 35 (cheap calls) · low dividend yield · long tenor available · re-risking after a hedge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DE89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low (little option budget) · IV rich (poor participation) · money needed before maturity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49C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1–5y · 90–100% protection · participation 50–120%, capped or uncapped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233008" y="1389888"/>
            <a:ext cx="5410048" cy="4828032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97600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Sharkfin Note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6397600" y="1956816"/>
            <a:ext cx="841248" cy="256032"/>
          </a:xfrm>
          <a:prstGeom prst="roundRect">
            <a:avLst>
              <a:gd name="adj" fmla="val 14286"/>
            </a:avLst>
          </a:prstGeom>
          <a:solidFill>
            <a:srgbClr val="152230"/>
          </a:solidFill>
          <a:ln w="12700">
            <a:solidFill>
              <a:srgbClr val="15223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97600" y="195681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82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VOL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330288" y="1956816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52230"/>
          </a:solidFill>
          <a:ln w="12700">
            <a:solidFill>
              <a:srgbClr val="15223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30288" y="19568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82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PROTECTION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6397600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protected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(typically 95–100%) with participation in the rise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a knock-out barrier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If the barrier is touched, participation is replaced by a fixed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rebate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zero-coupon bond plus a bought up-and-out call.</a:t>
            </a:r>
            <a:endParaRPr lang="en-US" sz="13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7600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5FC1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high (cheap zero bond) · IV low (cheap calls) · moderately bullish with a target </a:t>
                      </a:r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</a:t>
                      </a:r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the barrier · want a floor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DE89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Breakout view (a knock-out leaves only the rebate) · rates low · IV high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49C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1–3y · 95–100% protection · participation 100–150% up to a 120–140% barrier · rebate 2–5%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4178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 · CARDS 5 OF 6 · RATES-LINKED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5192" y="452628"/>
            <a:ext cx="4940503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80015" y="32004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2A1814"/>
          </a:solidFill>
          <a:ln w="12700">
            <a:solidFill>
              <a:srgbClr val="2A18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80015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DE89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Rates-linked: Buy-the-Dip and Callable Range Accrual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389888"/>
            <a:ext cx="5410048" cy="4828032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Buy-the-Dip Note (BTD)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13232" y="1956816"/>
            <a:ext cx="923544" cy="256032"/>
          </a:xfrm>
          <a:prstGeom prst="roundRect">
            <a:avLst>
              <a:gd name="adj" fmla="val 14286"/>
            </a:avLst>
          </a:prstGeom>
          <a:solidFill>
            <a:srgbClr val="271D10"/>
          </a:solidFill>
          <a:ln w="12700">
            <a:solidFill>
              <a:srgbClr val="271D1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195681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DBA7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VOL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728216" y="1956816"/>
            <a:ext cx="676656" cy="256032"/>
          </a:xfrm>
          <a:prstGeom prst="roundRect">
            <a:avLst>
              <a:gd name="adj" fmla="val 14286"/>
            </a:avLst>
          </a:prstGeom>
          <a:solidFill>
            <a:srgbClr val="241B23"/>
          </a:solidFill>
          <a:ln w="12700">
            <a:solidFill>
              <a:srgbClr val="241B2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28216" y="1956816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C29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96312" y="1956816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2A1814"/>
          </a:solidFill>
          <a:ln w="12700">
            <a:solidFill>
              <a:srgbClr val="2A181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96312" y="195681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DE89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RATES-LINKED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deposit-like note paying an enhanced coupon, largely funded by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rates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plus a sold put. If the underlying closes at or below the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 level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during the tenor, principal converts into shares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that level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you buy the dip at a pre-set discount. Otherwise principal plus coupon is repaid.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5FC1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high (the deposit leg pays most of the coupon) · IV elevated · bullish long-term but extended (near highs, RSI &gt; 65) · a dip level you'd genuinely buy at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DE89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low (coupon thin) · falling-knife fundamentals · you wouldn't want the shares at the dip level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49C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1–6m, rolled · dip level 85–95% · coupon ≈ deposit rate + option premium · designs vary: confirm the term sheet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233008" y="1389888"/>
            <a:ext cx="5410048" cy="4828032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97600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Callable Range Accrual Note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6397600" y="1956816"/>
            <a:ext cx="923544" cy="256032"/>
          </a:xfrm>
          <a:prstGeom prst="roundRect">
            <a:avLst>
              <a:gd name="adj" fmla="val 14286"/>
            </a:avLst>
          </a:prstGeom>
          <a:solidFill>
            <a:srgbClr val="271D10"/>
          </a:solidFill>
          <a:ln w="12700">
            <a:solidFill>
              <a:srgbClr val="271D1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97600" y="195681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DBA7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VOL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412584" y="1956816"/>
            <a:ext cx="676656" cy="256032"/>
          </a:xfrm>
          <a:prstGeom prst="roundRect">
            <a:avLst>
              <a:gd name="adj" fmla="val 14286"/>
            </a:avLst>
          </a:prstGeom>
          <a:solidFill>
            <a:srgbClr val="241B23"/>
          </a:solidFill>
          <a:ln w="12700">
            <a:solidFill>
              <a:srgbClr val="241B2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12584" y="1956816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C29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180680" y="1956816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2A1814"/>
          </a:solidFill>
          <a:ln w="12700">
            <a:solidFill>
              <a:srgbClr val="2A181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180680" y="195681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DE89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RATES-LINKED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6397600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= fixed rate × (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the reference rate fixes inside the band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÷ days in period). The issuer may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note on set dates. The investor is short rate vol twice: the range and the call.</a:t>
            </a:r>
            <a:endParaRPr lang="en-US" sz="13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7600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5FC1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high · rate vol percentile &gt; 60 (pays more) · forwards sit inside the band · narrow realised range · central bank anchored · comfortable being called in the good scenario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DE89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Breakout risk (fiscal shock, policy surprise) · extension risk: in bad scenarios it isn't called and pays little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49C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3–10y · non-call 6–12m, then quarterly/annual · reference SOFR / CMS10 / CMS spread · band set around the realised range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4178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 · CARDS 6 OF 6 · RATES-LINKED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5192" y="452628"/>
            <a:ext cx="4940503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80015" y="32004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2A1814"/>
          </a:solidFill>
          <a:ln w="12700">
            <a:solidFill>
              <a:srgbClr val="2A18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80015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DE89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Capped Floored Floater, and why rates drive all three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389888"/>
            <a:ext cx="5410048" cy="4828032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Capped Floored Floater (CFF)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13232" y="1956816"/>
            <a:ext cx="923544" cy="256032"/>
          </a:xfrm>
          <a:prstGeom prst="roundRect">
            <a:avLst>
              <a:gd name="adj" fmla="val 14286"/>
            </a:avLst>
          </a:prstGeom>
          <a:solidFill>
            <a:srgbClr val="271D10"/>
          </a:solidFill>
          <a:ln w="12700">
            <a:solidFill>
              <a:srgbClr val="271D1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195681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DBA7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VOL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728216" y="1956816"/>
            <a:ext cx="676656" cy="256032"/>
          </a:xfrm>
          <a:prstGeom prst="roundRect">
            <a:avLst>
              <a:gd name="adj" fmla="val 14286"/>
            </a:avLst>
          </a:prstGeom>
          <a:solidFill>
            <a:srgbClr val="241B23"/>
          </a:solidFill>
          <a:ln w="12700">
            <a:solidFill>
              <a:srgbClr val="241B2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28216" y="1956816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C29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96312" y="1956816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2A1814"/>
          </a:solidFill>
          <a:ln w="12700">
            <a:solidFill>
              <a:srgbClr val="2A181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96312" y="195681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DE89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RATES-LINKED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= reference rate + spread,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floored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a minimum and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capped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a maximum. The investor </a:t>
            </a:r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sells the cap</a:t>
            </a:r>
            <a:pPr indent="0" marL="0"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(gives up very high rates) to fund the floor and a better spread, so the note is net short rate vol.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5FC1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high, cuts priced, and you fear </a:t>
                      </a:r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deeper</a:t>
                      </a:r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cuts than forwards imply · rate vol elevated (the sold cap is worth more) · cap strike well above the plausible rate path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DE89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 inside the plausible path (rates stay high or rise) · cuts shallower than priced (floor overpaid)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49C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2–7y · floor near or below forwards (e.g. 3%) · cap well above spot (e.g. 6–7%)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1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233008" y="1389888"/>
            <a:ext cx="5410048" cy="4828032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97600" y="1536192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2A1814"/>
          </a:solidFill>
          <a:ln w="12700">
            <a:solidFill>
              <a:srgbClr val="2A181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97600" y="15361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DE89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RATES-LINKED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6397600" y="1883664"/>
            <a:ext cx="508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these three sit apart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6397600" y="2322576"/>
            <a:ext cx="5080864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sell volatility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equity vol for Buy-the-Dip, rate vol for the range accrual and the floater.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coupon is mostly a rate.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BTD is a deposit plus a sold put; the range accrual and the floater reference a rate directly.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rates improve all three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more than any other note on the shelf.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rates first, equity vol second.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Level vs history, forwards vs your view, rate vol percentile, realised range.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rates help nearly every note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bigger funding leg means more coupon or more option budget. These three just feel it most.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18361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 · MATRIX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622499" y="452628"/>
            <a:ext cx="9020556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notes: vol position × payoff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05840" y="1554480"/>
            <a:ext cx="3794760" cy="2217420"/>
          </a:xfrm>
          <a:prstGeom prst="rect">
            <a:avLst/>
          </a:prstGeom>
          <a:solidFill>
            <a:srgbClr val="271D1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15568" y="1618488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VOL · PARTICIPATION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00600" y="1554480"/>
            <a:ext cx="3794760" cy="2217420"/>
          </a:xfrm>
          <a:prstGeom prst="rect">
            <a:avLst/>
          </a:prstGeom>
          <a:solidFill>
            <a:srgbClr val="15223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0328" y="1618488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VOL · PARTICIPATION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05840" y="3771900"/>
            <a:ext cx="3794760" cy="2217420"/>
          </a:xfrm>
          <a:prstGeom prst="rect">
            <a:avLst/>
          </a:prstGeom>
          <a:solidFill>
            <a:srgbClr val="12242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15568" y="3835908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VOL · INCOME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00600" y="3771900"/>
            <a:ext cx="3794760" cy="22174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3835908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VOL · INCOME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00600" y="1508760"/>
            <a:ext cx="0" cy="4526280"/>
          </a:xfrm>
          <a:prstGeom prst="line">
            <a:avLst/>
          </a:prstGeom>
          <a:noFill/>
          <a:ln w="19050">
            <a:solidFill>
              <a:srgbClr val="949C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771900"/>
            <a:ext cx="7680960" cy="0"/>
          </a:xfrm>
          <a:prstGeom prst="line">
            <a:avLst/>
          </a:prstGeom>
          <a:noFill/>
          <a:ln w="19050">
            <a:solidFill>
              <a:srgbClr val="949C8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60624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BA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 SHORT VEGA: you sell optionality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60624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2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VEGA: you buy optionality  ▶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76072" y="1554480"/>
            <a:ext cx="27432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C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 ▲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76072" y="3771900"/>
            <a:ext cx="27432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9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INCOME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22422" y="1963674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5FC1A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77286" y="1981962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levered to a cap; sells buffer put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76833" y="2761945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5FC1A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31697" y="2780233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ACM+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premium; upside kept at maturity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41287" y="1963674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5FC1A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96151" y="1981962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Protection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bond + bought call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71593" y="2761945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5FC1A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26457" y="2780233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Sharkfin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protected; bought up-and-out call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176833" y="4114571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949C8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231697" y="4132859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coupon; sold barrier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22422" y="4114571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949C8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77286" y="4132859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premium; sold digital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176833" y="4779797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949C8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231697" y="4798085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coupons; sold strike put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922422" y="4779797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949C8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977286" y="4798085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Convertible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+ sold put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11680" y="5445023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DE897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066544" y="5463311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Buy-the-Dip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 + sold put · rates-linked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006840" y="1554480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C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006840" y="1874520"/>
            <a:ext cx="26362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from the vol stance.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IV rich → left; IV cheap → right.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from the view shape.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Trend/breakout → top; range/sideways → bottom.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notes cluster bottom-left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coupon is sold optionality.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vol · income is empty.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can't be paid a coupon for owning options.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006840" y="3657600"/>
            <a:ext cx="2636215" cy="11887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06840" y="3657600"/>
            <a:ext cx="36576" cy="1188720"/>
          </a:xfrm>
          <a:prstGeom prst="rect">
            <a:avLst/>
          </a:prstGeom>
          <a:solidFill>
            <a:srgbClr val="DE8974"/>
          </a:solidFill>
          <a:ln w="12700">
            <a:solidFill>
              <a:srgbClr val="DE897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08008" y="3767328"/>
            <a:ext cx="2270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E89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KEPT SEPARATE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9208008" y="4023360"/>
            <a:ext cx="22704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Callable Range Accrual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Capped Floored Floater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also sell vol, but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vol: read them off the rates tape, not this grid.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006840" y="5029200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171A15"/>
          </a:solidFill>
          <a:ln w="19050">
            <a:solidFill>
              <a:srgbClr val="5FC1A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418320" y="4983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Bullish participation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006840" y="5340096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171A15"/>
          </a:solidFill>
          <a:ln w="19050">
            <a:solidFill>
              <a:srgbClr val="949C8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418320" y="52943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/ range income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006840" y="565099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171A15"/>
          </a:solidFill>
          <a:ln w="19050">
            <a:solidFill>
              <a:srgbClr val="DE897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418320" y="5605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Rates-linked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28234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 · COMPARISON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068726" y="452628"/>
            <a:ext cx="8574329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note shelf at a glance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8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463040"/>
                <a:gridCol w="1828800"/>
                <a:gridCol w="1463040"/>
                <a:gridCol w="1828800"/>
                <a:gridCol w="8531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NOTE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VOL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PAYOFF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BEST IV REGIME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RATES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BEST VIEW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TENOR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Reverse Convertible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 (&gt; 60th pct)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helps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own lower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3–12m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FCN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Rich, front-end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helps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Sideways-to-up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3–12m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Phoenix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Rich, IV &gt; RV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helps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Range-bound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12–36m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Review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helps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to mildly up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12–36m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ACM+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Participation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Rich, steep skew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helps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Flat-to-up, keep upside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12–36m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BREN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Participation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Moderate, steep skew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Neutral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a target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12–24m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Protection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Protection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(&lt; 35th pct)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needed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Upside with a floor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1–5y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Sharkfin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Protection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(&lt; 35th pct)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needed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Upside to a target, floored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1–3y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Buy-the-Dip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Rates-linked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 it lower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1–6m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Callable Range Accrual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 (rates)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vol rich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Rates-linked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boxed in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3–10y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Capped Floored Floater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 (rates)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vol rich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Rates-linked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Deeper cuts than priced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2–7y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rates help every row.</a:t>
            </a:r>
            <a:pPr indent="0" marL="0">
              <a:buNone/>
            </a:pPr>
            <a:r>
              <a:rPr lang="en-US" sz="11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three marked rates-linked depend on them most.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64008" cy="64008"/>
          </a:xfrm>
          <a:prstGeom prst="ellipse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" y="1188720"/>
            <a:ext cx="10552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04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024482" y="1312164"/>
            <a:ext cx="9435694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107286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OTC structures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1480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Bilateral options: bespoke strikes and tenors, shorter horizons, no issuer wrapper. Which structure to consider, what the tape needs to show, and when to stay away.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3938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OTC · PARTICIPATION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180283" y="452628"/>
            <a:ext cx="6725412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80015" y="32004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22420"/>
          </a:solidFill>
          <a:ln w="12700">
            <a:solidFill>
              <a:srgbClr val="1224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80015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PARTICIPATION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Directional and event structures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8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51560"/>
                <a:gridCol w="3566160"/>
                <a:gridCol w="2377440"/>
                <a:gridCol w="2179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STRUCTURE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VOL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CONSIDER WHEN THE TAPE SHOWS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AVOID WHEN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INDICATIVE CONSTRUCTION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call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pctl &lt; 25 · IV/RV &lt; 0.9 · catalyst inside tenor · rising trend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rich · no catalyst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3–12m, ATM to 5% OTM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spread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(small)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exists · dated event · IV rich (short leg sells the rich wing)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Breakout / uncapped view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1–6m; long ~ATM, short at target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reversal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Sells skew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Bullish, would own lower · </a:t>
                      </a:r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skew pctl &gt; 75</a:t>
                      </a:r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funds more upside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Falling-knife signals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3–6m; sell 90% put, buy 110% call, ~zero cost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1x2 call ratio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rich · specific target · rally beyond upper strike unlikely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Momentum / squeeze risk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 1 ATM, sell 2 at ~+10%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Bullish seagull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Bullish, want zero cost · steep skew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Gap-down risk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spread + sold OTM put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Accumulator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elevated (bigger discount) · range-to-up · building a position over time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Downtrend · high vol-of-vol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6–12m; strike 85–92%, KO 103–106%, 2× gearing below strike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Straddle / strangle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Earnings ratio &lt; 0.8 · binary catalyst · IV pctl low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rich · no event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Expiry just after the event; exit next day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161300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OTC · INCOME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399386" y="452628"/>
            <a:ext cx="7506310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80015" y="32004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A1E18"/>
          </a:solidFill>
          <a:ln w="12700">
            <a:solidFill>
              <a:srgbClr val="1A1E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80015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BFC7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Selling time and optionality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8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51560"/>
                <a:gridCol w="3566160"/>
                <a:gridCol w="2377440"/>
                <a:gridCol w="2179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STRUCTURE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VOL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CONSIDER WHEN THE TAPE SHOWS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AVOID WHEN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INDICATIVE CONSTRUCTION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Covered call / overwrite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 held · IV pctl &gt; 60 · IV/RV &gt; 1.1 · RSI &gt; 65 into resistance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Breakout or catalyst ahead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1–3m, 5–10% OTM (~20–30Δ), rolled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Cash-secured put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own lower · after a pullback · IV rich · steep skew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Falling knife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1–3m, 15–25Δ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 strangle / iron condor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pctl &gt; 75 · IV/RV &gt; 1.25 · narrow realised range · </a:t>
                      </a:r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event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inside tenor · trending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1–2m, 15–20Δ each side; buy 5–10Δ wings for the condor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Calendar spread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vega, +theta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 month rich vs back (</a:t>
                      </a:r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inverted term</a:t>
                      </a:r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 around an event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Steep contango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 1m, buy 3m, same strike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Decumulator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Exiting a holding at a premium · IV elevated · range-to-down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uptrend (geared selling)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Strike 105–110%, KO below spot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172455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OTC · HEDGING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510942" y="452628"/>
            <a:ext cx="7394753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80015" y="32004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52230"/>
          </a:solidFill>
          <a:ln w="12700">
            <a:solidFill>
              <a:srgbClr val="1522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80015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82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PROTECTION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Protection structures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8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51560"/>
                <a:gridCol w="3566160"/>
                <a:gridCol w="2377440"/>
                <a:gridCol w="2179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STRUCTURE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VOL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CONSIDER WHEN THE TAPE SHOWS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AVOID WHEN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INDICATIVE CONSTRUCTION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put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pctl &lt; 30 · flat skew · event risk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rich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3–6m, 90–95%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Put spread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(small)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rich or </a:t>
                      </a:r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steep skew</a:t>
                      </a:r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sell the rich lower wing · cushion a 10–20% fall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Crash / tail cover needed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3–6m, 95/80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Zero-cost collar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Neutral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Concentrated, low-basis holding · rich call vol · want zero cost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upside conviction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6–12m; put ~90%, call set for zero cost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Put-spread collar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Steep skew · zero cost · protect a moderate fall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Crash scenario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95 put, short 80 put, short ~110 call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 put spread (tail)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VIX pctl &lt; 25 · crowded event calendar · weak breadth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the spike: too late, too dear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3–6m, 95/85 or 90/75; premium budget % p.a.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161300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OTC · MATRIX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399386" y="452628"/>
            <a:ext cx="9243670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OTC structures: vol position × payoff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05840" y="1554480"/>
            <a:ext cx="3794760" cy="2217420"/>
          </a:xfrm>
          <a:prstGeom prst="rect">
            <a:avLst/>
          </a:prstGeom>
          <a:solidFill>
            <a:srgbClr val="271D1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15568" y="1618488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VOL · PARTICIPATION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00600" y="1554480"/>
            <a:ext cx="3794760" cy="2217420"/>
          </a:xfrm>
          <a:prstGeom prst="rect">
            <a:avLst/>
          </a:prstGeom>
          <a:solidFill>
            <a:srgbClr val="15223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0328" y="1618488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VOL · PARTICIPATION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05840" y="3771900"/>
            <a:ext cx="3794760" cy="2217420"/>
          </a:xfrm>
          <a:prstGeom prst="rect">
            <a:avLst/>
          </a:prstGeom>
          <a:solidFill>
            <a:srgbClr val="12242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15568" y="3835908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VOL · INCOME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00600" y="3771900"/>
            <a:ext cx="3794760" cy="22174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3835908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VOL · INCOME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00600" y="1508760"/>
            <a:ext cx="0" cy="4526280"/>
          </a:xfrm>
          <a:prstGeom prst="line">
            <a:avLst/>
          </a:prstGeom>
          <a:noFill/>
          <a:ln w="19050">
            <a:solidFill>
              <a:srgbClr val="949C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771900"/>
            <a:ext cx="7680960" cy="0"/>
          </a:xfrm>
          <a:prstGeom prst="line">
            <a:avLst/>
          </a:prstGeom>
          <a:noFill/>
          <a:ln w="19050">
            <a:solidFill>
              <a:srgbClr val="949C8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60624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BA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 SHORT VEGA: you sell optionality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60624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2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VEGA: you buy optionality  ▶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76072" y="1554480"/>
            <a:ext cx="27432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C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 ▲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76072" y="3771900"/>
            <a:ext cx="27432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9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INCOME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22422" y="1963674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5FC1A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77286" y="1981962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reversal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sells put skew for calls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76833" y="1963674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5FC1A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31697" y="1981962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1x2 call ratio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 to a level, short wing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76833" y="2761945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5FC1A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231697" y="2780233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Accumulator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buys at discount; geared puts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22422" y="2761945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5FC1A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77286" y="2780233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Bullish seagull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spread funded by put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41287" y="1963674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5FC1A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96151" y="1981962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call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uncapped, leveraged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5698" y="1963674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5FC1A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50562" y="1981962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spread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target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41287" y="2761945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949C8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96151" y="2780233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Straddle / strangle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direction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5698" y="2761945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DE897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50562" y="2780233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/ put spread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downside participation (hedge)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176833" y="4114571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949C8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231697" y="4132859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call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stock, capped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922422" y="4114571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949C8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977286" y="4132859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Cash-secured put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to buy lower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176833" y="4779797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949C8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231697" y="4798085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Strangle / condor (sold)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income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922422" y="4779797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949C8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977286" y="4798085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Decumulator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at a premium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909060" y="5445023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DE897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963924" y="5463311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funded by call (hedge)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85916" y="4447184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71A15"/>
          </a:solidFill>
          <a:ln w="19050">
            <a:solidFill>
              <a:srgbClr val="949C8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240780" y="4465472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spread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vega, earns front decay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9006840" y="1554480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C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006840" y="1874520"/>
            <a:ext cx="263621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logic as the note matrix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column from vol stance, row from view shape.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 sit near the axis.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They buy one option and sell another, so vega partly nets.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Hedges straddle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payoffs: a put is downside participation; a collar trades upside for protection.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vol · income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holds only the calendar: long back-month vega while collecting front-month decay.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006840" y="4892040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171A15"/>
          </a:solidFill>
          <a:ln w="19050">
            <a:solidFill>
              <a:srgbClr val="5FC1A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41832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Bullish participation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006840" y="5202936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171A15"/>
          </a:solidFill>
          <a:ln w="19050">
            <a:solidFill>
              <a:srgbClr val="949C8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418320" y="5157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/ range / vol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006840" y="551383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171A15"/>
          </a:solidFill>
          <a:ln w="19050">
            <a:solidFill>
              <a:srgbClr val="DE897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418320" y="5468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Hedge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1947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 REFERENCE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734056" y="452628"/>
            <a:ext cx="8908999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→ first structure to consider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8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194560"/>
                <a:gridCol w="2926080"/>
                <a:gridCol w="27733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TAPE</a:t>
                      </a:r>
                      <a:endParaRPr lang="en-US" sz="9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VIEW</a:t>
                      </a:r>
                      <a:endParaRPr lang="en-US" sz="9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OTC FIRST CHOICE</a:t>
                      </a:r>
                      <a:endParaRPr lang="en-US" sz="9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NOTE FIRST CHOICE</a:t>
                      </a:r>
                      <a:endParaRPr lang="en-US" sz="9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cheap + catalyst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Bullish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call / call spread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Protection (if rates high)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cheap + event, direction unclear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 move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Straddle / strangle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cheap + flat skew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put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Protection (re-risk)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rich + tight range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Sideways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Covered call · sold strangle/condor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Phoenix · FCN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rich + pullback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own lower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Cash-secured put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Reverse convertible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rich + steep skew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Mildly bullish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reversal · seagull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ACM+ · Digital Review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rich + steep skew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Put spread · collar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BREN (buffer)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moderate + target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a level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spread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BREN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 highs, RSI &gt; 70, rates high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Bullish, better entry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Laddered put sales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Buy-the-Dip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cheap + target + rates high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Protected upside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spread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Sharkfin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boxed, rate vol rich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range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Sold swaption strangle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Callable Range Accrual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high, cuts priced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Fear deeper cuts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Bought floor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Capped Floored Floater</a:t>
                      </a:r>
                      <a:endParaRPr lang="en-US" sz="12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10552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841602" y="452628"/>
            <a:ext cx="9801454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Principles and caveats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DERIVS METHODOLOGY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410048" cy="475488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563624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122420"/>
          </a:solidFill>
          <a:ln w="12700">
            <a:solidFill>
              <a:srgbClr val="1224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15636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1911096"/>
            <a:ext cx="508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Principles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350008"/>
            <a:ext cx="508086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 stance first, product last.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structure is long or short optionality.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IV to realised, not just to history.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Price against what the asset is doing now.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vol only with a defined worst case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you'd accept, sized for a gap.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vol only with a catalyst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inside the tenor, or the decay wins.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that caps upside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wrong for an uncapped view.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note is issuer credit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illiquid until maturity; spread issuers.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rates help nearly every note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Buy-the-Dip, range accruals and floaters most of all.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33008" y="1417320"/>
            <a:ext cx="5410048" cy="475488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7600" y="1563624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2A1814"/>
          </a:solidFill>
          <a:ln w="12700">
            <a:solidFill>
              <a:srgbClr val="2A18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97600" y="15636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DE89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397600" y="1911096"/>
            <a:ext cx="508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Caveats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97600" y="2350008"/>
            <a:ext cx="508086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 are starting points.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Calibrate per asset: a biotech's "rich" is a utility's "crisis".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vol is sometimes rich for a reason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binary event, a deal, a ruling. Check the calendar.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Worst-of coupons price correlation risk.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higher coupon means more risk, not a better deal.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naming varies by issuer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(ACM+, Buy-the-Dip, Digital Review, Sharkfin): confirm mechanics on the term sheet.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ignores suitability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design; the companion deck covers who can hold what.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Derivs Methodology</dc:title>
  <dc:subject>PptxGenJS Presentation</dc:subject>
  <dc:creator>Open Book desk</dc:creator>
  <cp:lastModifiedBy>Open Book desk</cp:lastModifiedBy>
  <cp:revision>1</cp:revision>
  <dcterms:created xsi:type="dcterms:W3CDTF">2026-09-25T06:19:32Z</dcterms:created>
  <dcterms:modified xsi:type="dcterms:W3CDTF">2026-09-25T06:19:32Z</dcterms:modified>
</cp:coreProperties>
</file>